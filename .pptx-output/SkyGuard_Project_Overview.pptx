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a32700639e4d4f" /><Relationship Type="http://schemas.openxmlformats.org/officeDocument/2006/relationships/extended-properties" Target="/docProps/app.xml" Id="Rf1c260f88ad543f5" /><Relationship Type="http://schemas.openxmlformats.org/officeDocument/2006/relationships/officeDocument" Target="/ppt/presentation.xml" Id="R58766dd6a75c45b9" /></Relationships>
</file>

<file path=ppt/presentation.xml><?xml version="1.0" encoding="utf-8"?>
<p:presentation xmlns:p="http://schemas.openxmlformats.org/presentationml/2006/main">
  <p:sldMasterIdLst>
    <p:sldMasterId xmlns:r="http://schemas.openxmlformats.org/officeDocument/2006/relationships" id="2147483648" r:id="R41c6130819b544a8"/>
  </p:sldMasterIdLst>
  <p:notesMasterIdLst>
    <p:notesMasterId xmlns:r="http://schemas.openxmlformats.org/officeDocument/2006/relationships" r:id="Rc899d96def4f4b07"/>
  </p:notesMasterIdLst>
  <p:sldIdLst>
    <p:sldId xmlns:r="http://schemas.openxmlformats.org/officeDocument/2006/relationships" id="256" r:id="Re498c4715c964219"/>
    <p:sldId xmlns:r="http://schemas.openxmlformats.org/officeDocument/2006/relationships" id="257" r:id="Rbb4ee86e49654897"/>
    <p:sldId xmlns:r="http://schemas.openxmlformats.org/officeDocument/2006/relationships" id="258" r:id="R7ff0256026ed4708"/>
    <p:sldId xmlns:r="http://schemas.openxmlformats.org/officeDocument/2006/relationships" id="259" r:id="R30e5d62c2fb64f96"/>
    <p:sldId xmlns:r="http://schemas.openxmlformats.org/officeDocument/2006/relationships" id="260" r:id="R411320341f0d4da1"/>
    <p:sldId xmlns:r="http://schemas.openxmlformats.org/officeDocument/2006/relationships" id="261" r:id="R707f8515a1594ebe"/>
    <p:sldId xmlns:r="http://schemas.openxmlformats.org/officeDocument/2006/relationships" id="262" r:id="R2943b4772a22448e"/>
    <p:sldId xmlns:r="http://schemas.openxmlformats.org/officeDocument/2006/relationships" id="263" r:id="Rf6f4929a91a64f94"/>
    <p:sldId xmlns:r="http://schemas.openxmlformats.org/officeDocument/2006/relationships" id="264" r:id="Re71302748b044c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f90ac252634fe2" /><Relationship Type="http://schemas.openxmlformats.org/officeDocument/2006/relationships/slideMaster" Target="/ppt/slideMasters/slideMaster1.xml" Id="R41c6130819b544a8" /><Relationship Type="http://schemas.openxmlformats.org/officeDocument/2006/relationships/notesMaster" Target="/ppt/notesMasters/notesMaster1.xml" Id="Rc899d96def4f4b07" /><Relationship Type="http://schemas.openxmlformats.org/officeDocument/2006/relationships/presProps" Target="/ppt/presProps.xml" Id="R371237e9c0d3469d" /><Relationship Type="http://schemas.openxmlformats.org/officeDocument/2006/relationships/tableStyles" Target="/ppt/tableStyles.xml" Id="R8d538bb2764f4661" /><Relationship Type="http://schemas.openxmlformats.org/officeDocument/2006/relationships/slide" Target="/ppt/slides/slide1.xml" Id="Re498c4715c964219" /><Relationship Type="http://schemas.openxmlformats.org/officeDocument/2006/relationships/slide" Target="/ppt/slides/slide2.xml" Id="Rbb4ee86e49654897" /><Relationship Type="http://schemas.openxmlformats.org/officeDocument/2006/relationships/slide" Target="/ppt/slides/slide3.xml" Id="R7ff0256026ed4708" /><Relationship Type="http://schemas.openxmlformats.org/officeDocument/2006/relationships/slide" Target="/ppt/slides/slide4.xml" Id="R30e5d62c2fb64f96" /><Relationship Type="http://schemas.openxmlformats.org/officeDocument/2006/relationships/slide" Target="/ppt/slides/slide5.xml" Id="R411320341f0d4da1" /><Relationship Type="http://schemas.openxmlformats.org/officeDocument/2006/relationships/slide" Target="/ppt/slides/slide6.xml" Id="R707f8515a1594ebe" /><Relationship Type="http://schemas.openxmlformats.org/officeDocument/2006/relationships/slide" Target="/ppt/slides/slide7.xml" Id="R2943b4772a22448e" /><Relationship Type="http://schemas.openxmlformats.org/officeDocument/2006/relationships/slide" Target="/ppt/slides/slide8.xml" Id="Rf6f4929a91a64f94" /><Relationship Type="http://schemas.openxmlformats.org/officeDocument/2006/relationships/slide" Target="/ppt/slides/slide9.xml" Id="Re71302748b044c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759be5195240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0e0721f14a4e16" /><Relationship Type="http://schemas.openxmlformats.org/officeDocument/2006/relationships/notesMaster" Target="/ppt/notesMasters/notesMaster1.xml" Id="R50cda82e15bc48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eba863b7a2436c" /><Relationship Type="http://schemas.openxmlformats.org/officeDocument/2006/relationships/notesMaster" Target="/ppt/notesMasters/notesMaster1.xml" Id="R64ff4bfc65b74e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dcec81a287469f" /><Relationship Type="http://schemas.openxmlformats.org/officeDocument/2006/relationships/notesMaster" Target="/ppt/notesMasters/notesMaster1.xml" Id="R78f1cb8193ed4f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632aabebc94491" /><Relationship Type="http://schemas.openxmlformats.org/officeDocument/2006/relationships/notesMaster" Target="/ppt/notesMasters/notesMaster1.xml" Id="R8dde91db1fe84a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95e961cee046fa" /><Relationship Type="http://schemas.openxmlformats.org/officeDocument/2006/relationships/notesMaster" Target="/ppt/notesMasters/notesMaster1.xml" Id="Rd2cf1553732a4e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16a38a04f64dfb" /><Relationship Type="http://schemas.openxmlformats.org/officeDocument/2006/relationships/notesMaster" Target="/ppt/notesMasters/notesMaster1.xml" Id="R6762ea1b554144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1887e78bed4a65" /><Relationship Type="http://schemas.openxmlformats.org/officeDocument/2006/relationships/notesMaster" Target="/ppt/notesMasters/notesMaster1.xml" Id="R21b4c104d18f4d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a23038ae7c4d21" /><Relationship Type="http://schemas.openxmlformats.org/officeDocument/2006/relationships/notesMaster" Target="/ppt/notesMasters/notesMaster1.xml" Id="R71d139a6430c44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ab3aa7944d478b" /><Relationship Type="http://schemas.openxmlformats.org/officeDocument/2006/relationships/notesMaster" Target="/ppt/notesMasters/notesMaster1.xml" Id="Rc757fb18893d4f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“Our project is SkyGuard, a weather station integrity monitor. It analyzes a day of hourly temperature, pressure, and humidity data, flags suspicious sensor behavior, and returns smoothed readings for the current hour. I’ll walk through what we built and who it is intended to help.”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we focused on is data quality. A sensor can flatline, drift, or jump unexpectedly. At the same time, genuine severe weather can produce abrupt changes, so an anomaly detector has to interpret context and communicate its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path starts in the dashboard, where a user loads or edits 24 hourly readings. The browser sends them to the FastAPI service. The service combines the trained model with checks for suspicious signal patterns, then returns a status, fault type, and observed versus healed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“Detection has two parts. The LSTM autoencoder measures how unusual the latest physical readings look relative to the learned sequence. Additional checks catch flatlined humidity or temperature and sudden pressure jumps. A pressure drop paired with a humidity rise can be treated as a severe-weather pass. For recovery, a separate one-dimensional Kalman filter per variable smooths the signal and skips a flagged current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website is the operational interface for the demo. It checks whether the backend and model artifacts are loaded, accepts sample data or a selected location, and visualizes the result. Developers can also call the API directly or use FastAPI’s interactive docs. Live weather is sourced from Open-Meteo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stack is deliberately straightforward. Python and FastAPI serve the inference endpoint; PyTorch runs the LSTM model; NumPy and scikit-learn prepare and scale features; Joblib loads the saved scaler. The front end is plain HTML, CSS, and JavaScript. Open-Meteo supplies city lookup and hourly weather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audience is people responsible for weather telemetry and the developers building around those feeds. It is also designed to be understandable in a hackathon demo. The repository positions this as a demonstration and development service, not a deployed production monitoring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important limitation: the live-weather mode fetches model-based estimates from Open-Meteo; it does not connect to an AWS physical sensor. We can demonstrate the diagnosis with synthetic sample readings even without internet access. The project documentation recommends Python 3.12 and requires the model and scaler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demo it, start the API, open the dashboard, load sample data or search for a city, and run diagnostics. Then explain the status, fault category, reconstruction error, and observed versus healed values. SkyGuard is a prototype for making weather telemetry easier to inspect and recover.”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804814b4f149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0bdf505d3544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b09890d169d4d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682c2b63bcc45b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0d1cbf4e70146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fb835ccb0d40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BB18F5-6AA1-443E-B58E-CDFE31B6C4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4A1EBFB-9BDE-4C59-B539-5A11E4089D0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71F77ED-C9EA-46FF-8CC2-FBF1CA028C1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CC07B6-1588-4781-B508-18A4BF3727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E2FBC7F-2BE4-4E40-A1B3-993153BD15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80DE1F7-CE7B-49BA-A2D9-F6D1288891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FDFBE6-54BF-4FFF-AB2E-FBD80E027C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8E84024-70E6-49B9-9A80-BC33BF941CA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DDB62C-D80F-40E6-B944-B705930D12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81EADA-79D1-4C2B-8927-164D846C98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751cafd8bb4820" /><Relationship Type="http://schemas.openxmlformats.org/officeDocument/2006/relationships/slideLayout" Target="/ppt/slideLayouts/slideLayout1.xml" Id="Raaaa1a12ebaf43d8" /><Relationship Type="http://schemas.openxmlformats.org/officeDocument/2006/relationships/slideLayout" Target="/ppt/slideLayouts/slideLayout2.xml" Id="Rc4016135b01a4b81" /><Relationship Type="http://schemas.openxmlformats.org/officeDocument/2006/relationships/slideLayout" Target="/ppt/slideLayouts/slideLayout3.xml" Id="R29e789a184074f5d" /><Relationship Type="http://schemas.openxmlformats.org/officeDocument/2006/relationships/slideLayout" Target="/ppt/slideLayouts/slideLayout4.xml" Id="R7db5af02eecd43ce" /><Relationship Type="http://schemas.openxmlformats.org/officeDocument/2006/relationships/slideLayout" Target="/ppt/slideLayouts/slideLayout5.xml" Id="Rfa2dc1c85a404887" /><Relationship Type="http://schemas.openxmlformats.org/officeDocument/2006/relationships/slideLayout" Target="/ppt/slideLayouts/slideLayout6.xml" Id="R39ef531f9f1242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aa1a12ebaf43d8"/>
    <p:sldLayoutId xmlns:r="http://schemas.openxmlformats.org/officeDocument/2006/relationships" id="2147483650" r:id="Rc4016135b01a4b81"/>
    <p:sldLayoutId xmlns:r="http://schemas.openxmlformats.org/officeDocument/2006/relationships" id="2147483651" r:id="R29e789a184074f5d"/>
    <p:sldLayoutId xmlns:r="http://schemas.openxmlformats.org/officeDocument/2006/relationships" id="2147483652" r:id="R7db5af02eecd43ce"/>
    <p:sldLayoutId xmlns:r="http://schemas.openxmlformats.org/officeDocument/2006/relationships" id="2147483653" r:id="Rfa2dc1c85a404887"/>
    <p:sldLayoutId xmlns:r="http://schemas.openxmlformats.org/officeDocument/2006/relationships" id="2147483654" r:id="R39ef531f9f1242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9d8d4f534f94ec4" /><Relationship Type="http://schemas.openxmlformats.org/officeDocument/2006/relationships/notesSlide" Target="/ppt/notesSlides/notesSlide1.xml" Id="R8957e5d6685a40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fa44f1254894a28" /><Relationship Type="http://schemas.openxmlformats.org/officeDocument/2006/relationships/notesSlide" Target="/ppt/notesSlides/notesSlide2.xml" Id="R6df78a949b7043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e1c0d68f3ff4fcb" /><Relationship Type="http://schemas.openxmlformats.org/officeDocument/2006/relationships/notesSlide" Target="/ppt/notesSlides/notesSlide3.xml" Id="Re79218710ad842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c6ed026f85b4778" /><Relationship Type="http://schemas.openxmlformats.org/officeDocument/2006/relationships/notesSlide" Target="/ppt/notesSlides/notesSlide4.xml" Id="R6fdc596de2f443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11b0f38b7a94951" /><Relationship Type="http://schemas.openxmlformats.org/officeDocument/2006/relationships/notesSlide" Target="/ppt/notesSlides/notesSlide5.xml" Id="Ra4592f4bfc7b46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b4263692aa5456d" /><Relationship Type="http://schemas.openxmlformats.org/officeDocument/2006/relationships/notesSlide" Target="/ppt/notesSlides/notesSlide6.xml" Id="R082474b106cf40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18425ec706c4582" /><Relationship Type="http://schemas.openxmlformats.org/officeDocument/2006/relationships/notesSlide" Target="/ppt/notesSlides/notesSlide7.xml" Id="R13093f5e78f64e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4aa5db3b1ae453c" /><Relationship Type="http://schemas.openxmlformats.org/officeDocument/2006/relationships/notesSlide" Target="/ppt/notesSlides/notesSlide8.xml" Id="R0848c562d11848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dd47f07eb21416c" /><Relationship Type="http://schemas.openxmlformats.org/officeDocument/2006/relationships/notesSlide" Target="/ppt/notesSlides/notesSlide9.xml" Id="Re5017d0f8da94348"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B930992-004F-4550-9238-A15E92022D6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65D6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DA2FD6-57DD-4DB7-8ECB-500E8635366E}"/>
              </a:ext>
            </a:extLst>
          </p:cNvPr>
          <p:cNvSpPr>
            <a:spLocks xmlns:a="http://schemas.openxmlformats.org/drawingml/2006/main" noGrp="1"/>
          </p:cNvSpPr>
          <p:nvPr/>
        </p:nvSpPr>
        <p:spPr>
          <a:xfrm xmlns:a="http://schemas.openxmlformats.org/drawingml/2006/main">
            <a:off x="685800" y="6477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65D6D1"/>
                </a:solidFill>
              </a:defRPr>
            </a:defPPr>
            <a:lvl1pPr>
              <a:defRPr sz="1200" b="1">
                <a:solidFill>
                  <a:srgbClr val="65D6D1"/>
                </a:solidFill>
              </a:defRPr>
            </a:lvl1pPr>
            <a:lvl2pPr>
              <a:defRPr sz="1200" b="1">
                <a:solidFill>
                  <a:srgbClr val="65D6D1"/>
                </a:solidFill>
              </a:defRPr>
            </a:lvl2pPr>
            <a:lvl3pPr>
              <a:defRPr sz="1200" b="1">
                <a:solidFill>
                  <a:srgbClr val="65D6D1"/>
                </a:solidFill>
              </a:defRPr>
            </a:lvl3pPr>
            <a:lvl4pPr>
              <a:defRPr sz="1200" b="1">
                <a:solidFill>
                  <a:srgbClr val="65D6D1"/>
                </a:solidFill>
              </a:defRPr>
            </a:lvl4pPr>
            <a:lvl5pPr>
              <a:defRPr sz="1200" b="1">
                <a:solidFill>
                  <a:srgbClr val="65D6D1"/>
                </a:solidFill>
              </a:defRPr>
            </a:lvl5pPr>
            <a:lvl6pPr>
              <a:defRPr sz="1200" b="1">
                <a:solidFill>
                  <a:srgbClr val="65D6D1"/>
                </a:solidFill>
              </a:defRPr>
            </a:lvl6pPr>
            <a:lvl7pPr>
              <a:defRPr sz="1200" b="1">
                <a:solidFill>
                  <a:srgbClr val="65D6D1"/>
                </a:solidFill>
              </a:defRPr>
            </a:lvl7pPr>
            <a:lvl8pPr>
              <a:defRPr sz="1200" b="1">
                <a:solidFill>
                  <a:srgbClr val="65D6D1"/>
                </a:solidFill>
              </a:defRPr>
            </a:lvl8pPr>
            <a:lvl9pPr>
              <a:defRPr sz="1200" b="1">
                <a:solidFill>
                  <a:srgbClr val="65D6D1"/>
                </a:solidFill>
              </a:defRPr>
            </a:lvl9pPr>
          </a:lstStyle>
          <a:p xmlns:a="http://schemas.openxmlformats.org/drawingml/2006/main">
            <a:pPr>
              <a:defRPr sz="1200" b="1">
                <a:solidFill>
                  <a:srgbClr val="65D6D1"/>
                </a:solidFill>
              </a:defRPr>
            </a:pPr>
            <a:r>
              <a:rPr sz="1200" b="1">
                <a:solidFill>
                  <a:srgbClr val="65D6D1"/>
                </a:solidFill>
              </a:rPr>
              <a:t>SKYGUARD AI</a:t>
            </a:r>
          </a:p>
        </p:txBody>
      </p:sp>
      <p:sp>
        <p:nvSpPr>
          <p:cNvPr id="3" name="">
            <a:extLst xmlns:a="http://schemas.openxmlformats.org/drawingml/2006/main">
              <a:ext uri="{FF2B5EF4-FFF2-40B4-BE49-F238E27FC236}">
                <a16:creationId xmlns:a16="http://schemas.microsoft.com/office/drawing/2014/main" id="{58A21B1A-2B36-4624-9C9E-86E1FDCD6DB8}"/>
              </a:ext>
            </a:extLst>
          </p:cNvPr>
          <p:cNvSpPr>
            <a:spLocks xmlns:a="http://schemas.openxmlformats.org/drawingml/2006/main" noGrp="1"/>
          </p:cNvSpPr>
          <p:nvPr/>
        </p:nvSpPr>
        <p:spPr>
          <a:xfrm xmlns:a="http://schemas.openxmlformats.org/drawingml/2006/main">
            <a:off x="685800" y="1466850"/>
            <a:ext cx="70485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900" b="1">
                <a:solidFill>
                  <a:srgbClr val="F4F7F8"/>
                </a:solidFill>
              </a:defRPr>
            </a:defPPr>
            <a:lvl1pPr>
              <a:defRPr sz="3900" b="1">
                <a:solidFill>
                  <a:srgbClr val="F4F7F8"/>
                </a:solidFill>
              </a:defRPr>
            </a:lvl1pPr>
            <a:lvl2pPr>
              <a:defRPr sz="3900" b="1">
                <a:solidFill>
                  <a:srgbClr val="F4F7F8"/>
                </a:solidFill>
              </a:defRPr>
            </a:lvl2pPr>
            <a:lvl3pPr>
              <a:defRPr sz="3900" b="1">
                <a:solidFill>
                  <a:srgbClr val="F4F7F8"/>
                </a:solidFill>
              </a:defRPr>
            </a:lvl3pPr>
            <a:lvl4pPr>
              <a:defRPr sz="3900" b="1">
                <a:solidFill>
                  <a:srgbClr val="F4F7F8"/>
                </a:solidFill>
              </a:defRPr>
            </a:lvl4pPr>
            <a:lvl5pPr>
              <a:defRPr sz="3900" b="1">
                <a:solidFill>
                  <a:srgbClr val="F4F7F8"/>
                </a:solidFill>
              </a:defRPr>
            </a:lvl5pPr>
            <a:lvl6pPr>
              <a:defRPr sz="3900" b="1">
                <a:solidFill>
                  <a:srgbClr val="F4F7F8"/>
                </a:solidFill>
              </a:defRPr>
            </a:lvl6pPr>
            <a:lvl7pPr>
              <a:defRPr sz="3900" b="1">
                <a:solidFill>
                  <a:srgbClr val="F4F7F8"/>
                </a:solidFill>
              </a:defRPr>
            </a:lvl7pPr>
            <a:lvl8pPr>
              <a:defRPr sz="3900" b="1">
                <a:solidFill>
                  <a:srgbClr val="F4F7F8"/>
                </a:solidFill>
              </a:defRPr>
            </a:lvl8pPr>
            <a:lvl9pPr>
              <a:defRPr sz="3900" b="1">
                <a:solidFill>
                  <a:srgbClr val="F4F7F8"/>
                </a:solidFill>
              </a:defRPr>
            </a:lvl9pPr>
          </a:lstStyle>
          <a:p xmlns:a="http://schemas.openxmlformats.org/drawingml/2006/main">
            <a:pPr>
              <a:defRPr sz="3900" b="1">
                <a:solidFill>
                  <a:srgbClr val="F4F7F8"/>
                </a:solidFill>
              </a:defRPr>
            </a:pPr>
            <a:r>
              <a:rPr sz="3900" b="1">
                <a:solidFill>
                  <a:srgbClr val="F4F7F8"/>
                </a:solidFill>
              </a:rPr>
              <a:t>Weather station</a:t>
            </a:r>
          </a:p>
          <a:p xmlns:a="http://schemas.openxmlformats.org/drawingml/2006/main">
            <a:pPr>
              <a:defRPr sz="3900" b="1">
                <a:solidFill>
                  <a:srgbClr val="F4F7F8"/>
                </a:solidFill>
              </a:defRPr>
            </a:pPr>
            <a:r>
              <a:rPr sz="3900" b="1">
                <a:solidFill>
                  <a:srgbClr val="F4F7F8"/>
                </a:solidFill>
              </a:rPr>
              <a:t>integrity monitor</a:t>
            </a:r>
          </a:p>
        </p:txBody>
      </p:sp>
      <p:sp>
        <p:nvSpPr>
          <p:cNvPr id="4" name="">
            <a:extLst xmlns:a="http://schemas.openxmlformats.org/drawingml/2006/main">
              <a:ext uri="{FF2B5EF4-FFF2-40B4-BE49-F238E27FC236}">
                <a16:creationId xmlns:a16="http://schemas.microsoft.com/office/drawing/2014/main" id="{CA8603BA-7ECB-42BA-B428-0AF43A9A1D8F}"/>
              </a:ext>
            </a:extLst>
          </p:cNvPr>
          <p:cNvSpPr>
            <a:spLocks xmlns:a="http://schemas.openxmlformats.org/drawingml/2006/main" noGrp="1"/>
          </p:cNvSpPr>
          <p:nvPr/>
        </p:nvSpPr>
        <p:spPr>
          <a:xfrm xmlns:a="http://schemas.openxmlformats.org/drawingml/2006/main">
            <a:off x="723900" y="3390900"/>
            <a:ext cx="628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A8BBC5"/>
                </a:solidFill>
              </a:defRPr>
            </a:defPPr>
            <a:lvl1pPr>
              <a:defRPr sz="1800" b="0">
                <a:solidFill>
                  <a:srgbClr val="A8BBC5"/>
                </a:solidFill>
              </a:defRPr>
            </a:lvl1pPr>
            <a:lvl2pPr>
              <a:defRPr sz="1800" b="0">
                <a:solidFill>
                  <a:srgbClr val="A8BBC5"/>
                </a:solidFill>
              </a:defRPr>
            </a:lvl2pPr>
            <a:lvl3pPr>
              <a:defRPr sz="1800" b="0">
                <a:solidFill>
                  <a:srgbClr val="A8BBC5"/>
                </a:solidFill>
              </a:defRPr>
            </a:lvl3pPr>
            <a:lvl4pPr>
              <a:defRPr sz="1800" b="0">
                <a:solidFill>
                  <a:srgbClr val="A8BBC5"/>
                </a:solidFill>
              </a:defRPr>
            </a:lvl4pPr>
            <a:lvl5pPr>
              <a:defRPr sz="1800" b="0">
                <a:solidFill>
                  <a:srgbClr val="A8BBC5"/>
                </a:solidFill>
              </a:defRPr>
            </a:lvl5pPr>
            <a:lvl6pPr>
              <a:defRPr sz="1800" b="0">
                <a:solidFill>
                  <a:srgbClr val="A8BBC5"/>
                </a:solidFill>
              </a:defRPr>
            </a:lvl6pPr>
            <a:lvl7pPr>
              <a:defRPr sz="1800" b="0">
                <a:solidFill>
                  <a:srgbClr val="A8BBC5"/>
                </a:solidFill>
              </a:defRPr>
            </a:lvl7pPr>
            <a:lvl8pPr>
              <a:defRPr sz="1800" b="0">
                <a:solidFill>
                  <a:srgbClr val="A8BBC5"/>
                </a:solidFill>
              </a:defRPr>
            </a:lvl8pPr>
            <a:lvl9pPr>
              <a:defRPr sz="1800" b="0">
                <a:solidFill>
                  <a:srgbClr val="A8BBC5"/>
                </a:solidFill>
              </a:defRPr>
            </a:lvl9pPr>
          </a:lstStyle>
          <a:p xmlns:a="http://schemas.openxmlformats.org/drawingml/2006/main">
            <a:pPr>
              <a:defRPr sz="1800" b="0">
                <a:solidFill>
                  <a:srgbClr val="A8BBC5"/>
                </a:solidFill>
              </a:defRPr>
            </a:pPr>
            <a:r>
              <a:rPr sz="1800" b="0">
                <a:solidFill>
                  <a:srgbClr val="A8BBC5"/>
                </a:solidFill>
              </a:rPr>
              <a:t>Detect sensor faults. Classify the signal. Recover a trusted current reading.</a:t>
            </a:r>
          </a:p>
        </p:txBody>
      </p:sp>
      <p:sp>
        <p:nvSpPr>
          <p:cNvPr id="5" name="">
            <a:extLst xmlns:a="http://schemas.openxmlformats.org/drawingml/2006/main">
              <a:ext uri="{FF2B5EF4-FFF2-40B4-BE49-F238E27FC236}">
                <a16:creationId xmlns:a16="http://schemas.microsoft.com/office/drawing/2014/main" id="{73342DC5-37E6-4394-B073-23254A670954}"/>
              </a:ext>
            </a:extLst>
          </p:cNvPr>
          <p:cNvSpPr>
            <a:spLocks xmlns:a="http://schemas.openxmlformats.org/drawingml/2006/main" noGrp="1"/>
          </p:cNvSpPr>
          <p:nvPr/>
        </p:nvSpPr>
        <p:spPr>
          <a:xfrm xmlns:a="http://schemas.openxmlformats.org/drawingml/2006/main">
            <a:off x="8096250" y="1428750"/>
            <a:ext cx="3048000" cy="3048000"/>
          </a:xfrm>
          <a:prstGeom xmlns:a="http://schemas.openxmlformats.org/drawingml/2006/main" prst="roundRect">
            <a:avLst>
              <a:gd name="adj" fmla="val 2500"/>
            </a:avLst>
          </a:prstGeom>
          <a:solidFill xmlns:a="http://schemas.openxmlformats.org/drawingml/2006/main">
            <a:srgbClr val="10243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AD7445C-1EBC-429A-B281-09F215E73EA2}"/>
              </a:ext>
            </a:extLst>
          </p:cNvPr>
          <p:cNvSpPr>
            <a:spLocks xmlns:a="http://schemas.openxmlformats.org/drawingml/2006/main" noGrp="1"/>
          </p:cNvSpPr>
          <p:nvPr/>
        </p:nvSpPr>
        <p:spPr>
          <a:xfrm xmlns:a="http://schemas.openxmlformats.org/drawingml/2006/main">
            <a:off x="8429625" y="1809750"/>
            <a:ext cx="2286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6750" b="1">
                <a:solidFill>
                  <a:srgbClr val="65D6D1"/>
                </a:solidFill>
              </a:defRPr>
            </a:defPPr>
            <a:lvl1pPr>
              <a:defRPr sz="6750" b="1">
                <a:solidFill>
                  <a:srgbClr val="65D6D1"/>
                </a:solidFill>
              </a:defRPr>
            </a:lvl1pPr>
            <a:lvl2pPr>
              <a:defRPr sz="6750" b="1">
                <a:solidFill>
                  <a:srgbClr val="65D6D1"/>
                </a:solidFill>
              </a:defRPr>
            </a:lvl2pPr>
            <a:lvl3pPr>
              <a:defRPr sz="6750" b="1">
                <a:solidFill>
                  <a:srgbClr val="65D6D1"/>
                </a:solidFill>
              </a:defRPr>
            </a:lvl3pPr>
            <a:lvl4pPr>
              <a:defRPr sz="6750" b="1">
                <a:solidFill>
                  <a:srgbClr val="65D6D1"/>
                </a:solidFill>
              </a:defRPr>
            </a:lvl4pPr>
            <a:lvl5pPr>
              <a:defRPr sz="6750" b="1">
                <a:solidFill>
                  <a:srgbClr val="65D6D1"/>
                </a:solidFill>
              </a:defRPr>
            </a:lvl5pPr>
            <a:lvl6pPr>
              <a:defRPr sz="6750" b="1">
                <a:solidFill>
                  <a:srgbClr val="65D6D1"/>
                </a:solidFill>
              </a:defRPr>
            </a:lvl6pPr>
            <a:lvl7pPr>
              <a:defRPr sz="6750" b="1">
                <a:solidFill>
                  <a:srgbClr val="65D6D1"/>
                </a:solidFill>
              </a:defRPr>
            </a:lvl7pPr>
            <a:lvl8pPr>
              <a:defRPr sz="6750" b="1">
                <a:solidFill>
                  <a:srgbClr val="65D6D1"/>
                </a:solidFill>
              </a:defRPr>
            </a:lvl8pPr>
            <a:lvl9pPr>
              <a:defRPr sz="6750" b="1">
                <a:solidFill>
                  <a:srgbClr val="65D6D1"/>
                </a:solidFill>
              </a:defRPr>
            </a:lvl9pPr>
          </a:lstStyle>
          <a:p xmlns:a="http://schemas.openxmlformats.org/drawingml/2006/main">
            <a:pPr>
              <a:defRPr sz="6750" b="1">
                <a:solidFill>
                  <a:srgbClr val="65D6D1"/>
                </a:solidFill>
              </a:defRPr>
            </a:pPr>
            <a:r>
              <a:rPr sz="6750" b="1">
                <a:solidFill>
                  <a:srgbClr val="65D6D1"/>
                </a:solidFill>
              </a:rPr>
              <a:t>24</a:t>
            </a:r>
          </a:p>
        </p:txBody>
      </p:sp>
      <p:sp>
        <p:nvSpPr>
          <p:cNvPr id="7" name="">
            <a:extLst xmlns:a="http://schemas.openxmlformats.org/drawingml/2006/main">
              <a:ext uri="{FF2B5EF4-FFF2-40B4-BE49-F238E27FC236}">
                <a16:creationId xmlns:a16="http://schemas.microsoft.com/office/drawing/2014/main" id="{6A64A070-2556-4A78-A2F5-33BB6D3E13BB}"/>
              </a:ext>
            </a:extLst>
          </p:cNvPr>
          <p:cNvSpPr>
            <a:spLocks xmlns:a="http://schemas.openxmlformats.org/drawingml/2006/main" noGrp="1"/>
          </p:cNvSpPr>
          <p:nvPr/>
        </p:nvSpPr>
        <p:spPr>
          <a:xfrm xmlns:a="http://schemas.openxmlformats.org/drawingml/2006/main">
            <a:off x="8429625" y="2952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F4F7F8"/>
                </a:solidFill>
              </a:defRPr>
            </a:defPPr>
            <a:lvl1pPr>
              <a:defRPr sz="1275" b="1">
                <a:solidFill>
                  <a:srgbClr val="F4F7F8"/>
                </a:solidFill>
              </a:defRPr>
            </a:lvl1pPr>
            <a:lvl2pPr>
              <a:defRPr sz="1275" b="1">
                <a:solidFill>
                  <a:srgbClr val="F4F7F8"/>
                </a:solidFill>
              </a:defRPr>
            </a:lvl2pPr>
            <a:lvl3pPr>
              <a:defRPr sz="1275" b="1">
                <a:solidFill>
                  <a:srgbClr val="F4F7F8"/>
                </a:solidFill>
              </a:defRPr>
            </a:lvl3pPr>
            <a:lvl4pPr>
              <a:defRPr sz="1275" b="1">
                <a:solidFill>
                  <a:srgbClr val="F4F7F8"/>
                </a:solidFill>
              </a:defRPr>
            </a:lvl4pPr>
            <a:lvl5pPr>
              <a:defRPr sz="1275" b="1">
                <a:solidFill>
                  <a:srgbClr val="F4F7F8"/>
                </a:solidFill>
              </a:defRPr>
            </a:lvl5pPr>
            <a:lvl6pPr>
              <a:defRPr sz="1275" b="1">
                <a:solidFill>
                  <a:srgbClr val="F4F7F8"/>
                </a:solidFill>
              </a:defRPr>
            </a:lvl6pPr>
            <a:lvl7pPr>
              <a:defRPr sz="1275" b="1">
                <a:solidFill>
                  <a:srgbClr val="F4F7F8"/>
                </a:solidFill>
              </a:defRPr>
            </a:lvl7pPr>
            <a:lvl8pPr>
              <a:defRPr sz="1275" b="1">
                <a:solidFill>
                  <a:srgbClr val="F4F7F8"/>
                </a:solidFill>
              </a:defRPr>
            </a:lvl8pPr>
            <a:lvl9pPr>
              <a:defRPr sz="1275" b="1">
                <a:solidFill>
                  <a:srgbClr val="F4F7F8"/>
                </a:solidFill>
              </a:defRPr>
            </a:lvl9pPr>
          </a:lstStyle>
          <a:p xmlns:a="http://schemas.openxmlformats.org/drawingml/2006/main">
            <a:pPr>
              <a:defRPr sz="1275" b="1">
                <a:solidFill>
                  <a:srgbClr val="F4F7F8"/>
                </a:solidFill>
              </a:defRPr>
            </a:pPr>
            <a:r>
              <a:rPr sz="1275" b="1">
                <a:solidFill>
                  <a:srgbClr val="F4F7F8"/>
                </a:solidFill>
              </a:rPr>
              <a:t>HOUR TELEMETRY WINDOW</a:t>
            </a:r>
          </a:p>
        </p:txBody>
      </p:sp>
      <p:sp>
        <p:nvSpPr>
          <p:cNvPr id="8" name="">
            <a:extLst xmlns:a="http://schemas.openxmlformats.org/drawingml/2006/main">
              <a:ext uri="{FF2B5EF4-FFF2-40B4-BE49-F238E27FC236}">
                <a16:creationId xmlns:a16="http://schemas.microsoft.com/office/drawing/2014/main" id="{CDD615BB-25CD-4359-B864-9E256D13D418}"/>
              </a:ext>
            </a:extLst>
          </p:cNvPr>
          <p:cNvSpPr>
            <a:spLocks xmlns:a="http://schemas.openxmlformats.org/drawingml/2006/main" noGrp="1"/>
          </p:cNvSpPr>
          <p:nvPr/>
        </p:nvSpPr>
        <p:spPr>
          <a:xfrm xmlns:a="http://schemas.openxmlformats.org/drawingml/2006/main">
            <a:off x="8429625" y="3476625"/>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A8BBC5"/>
                </a:solidFill>
              </a:defRPr>
            </a:defPPr>
            <a:lvl1pPr>
              <a:defRPr sz="1275" b="0">
                <a:solidFill>
                  <a:srgbClr val="A8BBC5"/>
                </a:solidFill>
              </a:defRPr>
            </a:lvl1pPr>
            <a:lvl2pPr>
              <a:defRPr sz="1275" b="0">
                <a:solidFill>
                  <a:srgbClr val="A8BBC5"/>
                </a:solidFill>
              </a:defRPr>
            </a:lvl2pPr>
            <a:lvl3pPr>
              <a:defRPr sz="1275" b="0">
                <a:solidFill>
                  <a:srgbClr val="A8BBC5"/>
                </a:solidFill>
              </a:defRPr>
            </a:lvl3pPr>
            <a:lvl4pPr>
              <a:defRPr sz="1275" b="0">
                <a:solidFill>
                  <a:srgbClr val="A8BBC5"/>
                </a:solidFill>
              </a:defRPr>
            </a:lvl4pPr>
            <a:lvl5pPr>
              <a:defRPr sz="1275" b="0">
                <a:solidFill>
                  <a:srgbClr val="A8BBC5"/>
                </a:solidFill>
              </a:defRPr>
            </a:lvl5pPr>
            <a:lvl6pPr>
              <a:defRPr sz="1275" b="0">
                <a:solidFill>
                  <a:srgbClr val="A8BBC5"/>
                </a:solidFill>
              </a:defRPr>
            </a:lvl6pPr>
            <a:lvl7pPr>
              <a:defRPr sz="1275" b="0">
                <a:solidFill>
                  <a:srgbClr val="A8BBC5"/>
                </a:solidFill>
              </a:defRPr>
            </a:lvl7pPr>
            <a:lvl8pPr>
              <a:defRPr sz="1275" b="0">
                <a:solidFill>
                  <a:srgbClr val="A8BBC5"/>
                </a:solidFill>
              </a:defRPr>
            </a:lvl8pPr>
            <a:lvl9pPr>
              <a:defRPr sz="1275" b="0">
                <a:solidFill>
                  <a:srgbClr val="A8BBC5"/>
                </a:solidFill>
              </a:defRPr>
            </a:lvl9pPr>
          </a:lstStyle>
          <a:p xmlns:a="http://schemas.openxmlformats.org/drawingml/2006/main">
            <a:pPr>
              <a:defRPr sz="1275" b="0">
                <a:solidFill>
                  <a:srgbClr val="A8BBC5"/>
                </a:solidFill>
              </a:defRPr>
            </a:pPr>
            <a:r>
              <a:rPr sz="1275" b="0">
                <a:solidFill>
                  <a:srgbClr val="A8BBC5"/>
                </a:solidFill>
              </a:rPr>
              <a:t>Temperature  •  Pressure  •  Humidity</a:t>
            </a:r>
          </a:p>
        </p:txBody>
      </p:sp>
      <p:sp>
        <p:nvSpPr>
          <p:cNvPr id="9" name="">
            <a:extLst xmlns:a="http://schemas.openxmlformats.org/drawingml/2006/main">
              <a:ext uri="{FF2B5EF4-FFF2-40B4-BE49-F238E27FC236}">
                <a16:creationId xmlns:a16="http://schemas.microsoft.com/office/drawing/2014/main" id="{A5B064A9-755D-445B-B7B1-A12B89A9FCFC}"/>
              </a:ext>
            </a:extLst>
          </p:cNvPr>
          <p:cNvSpPr>
            <a:spLocks xmlns:a="http://schemas.openxmlformats.org/drawingml/2006/main" noGrp="1"/>
          </p:cNvSpPr>
          <p:nvPr/>
        </p:nvSpPr>
        <p:spPr>
          <a:xfrm xmlns:a="http://schemas.openxmlformats.org/drawingml/2006/main">
            <a:off x="723900" y="58864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A8BBC5"/>
                </a:solidFill>
              </a:defRPr>
            </a:defPPr>
            <a:lvl1pPr>
              <a:defRPr sz="1200" b="0">
                <a:solidFill>
                  <a:srgbClr val="A8BBC5"/>
                </a:solidFill>
              </a:defRPr>
            </a:lvl1pPr>
            <a:lvl2pPr>
              <a:defRPr sz="1200" b="0">
                <a:solidFill>
                  <a:srgbClr val="A8BBC5"/>
                </a:solidFill>
              </a:defRPr>
            </a:lvl2pPr>
            <a:lvl3pPr>
              <a:defRPr sz="1200" b="0">
                <a:solidFill>
                  <a:srgbClr val="A8BBC5"/>
                </a:solidFill>
              </a:defRPr>
            </a:lvl3pPr>
            <a:lvl4pPr>
              <a:defRPr sz="1200" b="0">
                <a:solidFill>
                  <a:srgbClr val="A8BBC5"/>
                </a:solidFill>
              </a:defRPr>
            </a:lvl4pPr>
            <a:lvl5pPr>
              <a:defRPr sz="1200" b="0">
                <a:solidFill>
                  <a:srgbClr val="A8BBC5"/>
                </a:solidFill>
              </a:defRPr>
            </a:lvl5pPr>
            <a:lvl6pPr>
              <a:defRPr sz="1200" b="0">
                <a:solidFill>
                  <a:srgbClr val="A8BBC5"/>
                </a:solidFill>
              </a:defRPr>
            </a:lvl6pPr>
            <a:lvl7pPr>
              <a:defRPr sz="1200" b="0">
                <a:solidFill>
                  <a:srgbClr val="A8BBC5"/>
                </a:solidFill>
              </a:defRPr>
            </a:lvl7pPr>
            <a:lvl8pPr>
              <a:defRPr sz="1200" b="0">
                <a:solidFill>
                  <a:srgbClr val="A8BBC5"/>
                </a:solidFill>
              </a:defRPr>
            </a:lvl8pPr>
            <a:lvl9pPr>
              <a:defRPr sz="1200" b="0">
                <a:solidFill>
                  <a:srgbClr val="A8BBC5"/>
                </a:solidFill>
              </a:defRPr>
            </a:lvl9pPr>
          </a:lstStyle>
          <a:p xmlns:a="http://schemas.openxmlformats.org/drawingml/2006/main">
            <a:pPr>
              <a:defRPr sz="1200" b="0">
                <a:solidFill>
                  <a:srgbClr val="A8BBC5"/>
                </a:solidFill>
              </a:defRPr>
            </a:pPr>
            <a:r>
              <a:rPr sz="1200" b="0">
                <a:solidFill>
                  <a:srgbClr val="A8BBC5"/>
                </a:solidFill>
              </a:rPr>
              <a:t>Project summary and presentation guide</a:t>
            </a:r>
          </a:p>
        </p:txBody>
      </p:sp>
    </p:spTree>
    <p:extLst>
      <p:ext uri="{BB962C8B-B14F-4D97-AF65-F5344CB8AC3E}">
        <p14:creationId xmlns:p14="http://schemas.microsoft.com/office/powerpoint/2010/main" val="82957127"/>
      </p:ext>
    </p:extLst>
  </p:cSld>
</p:sld>
</file>

<file path=ppt/slides/slide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92EF402-B65F-4344-881F-3D4347342B06}"/>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84DF0AF2-D849-4F79-9544-03D5C4C171F7}"/>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The problem: unreliable station readings</a:t>
            </a:r>
          </a:p>
        </p:txBody>
      </p:sp>
      <p:sp>
        <p:nvSpPr>
          <p:cNvPr id="3" name="">
            <a:extLst xmlns:a="http://schemas.openxmlformats.org/drawingml/2006/main">
              <a:ext uri="{FF2B5EF4-FFF2-40B4-BE49-F238E27FC236}">
                <a16:creationId xmlns:a16="http://schemas.microsoft.com/office/drawing/2014/main" id="{963753C6-09BE-4654-9C71-E0DFDEF2739B}"/>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D28BCD9-5CDF-4805-A746-99234BB43B42}"/>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703AE5F5-F8E1-4A90-8B16-6D7797BD8517}"/>
              </a:ext>
            </a:extLst>
          </p:cNvPr>
          <p:cNvSpPr>
            <a:spLocks xmlns:a="http://schemas.openxmlformats.org/drawingml/2006/main" noGrp="1"/>
          </p:cNvSpPr>
          <p:nvPr/>
        </p:nvSpPr>
        <p:spPr>
          <a:xfrm xmlns:a="http://schemas.openxmlformats.org/drawingml/2006/main">
            <a:off x="876300" y="16954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6" name="">
            <a:extLst xmlns:a="http://schemas.openxmlformats.org/drawingml/2006/main">
              <a:ext uri="{FF2B5EF4-FFF2-40B4-BE49-F238E27FC236}">
                <a16:creationId xmlns:a16="http://schemas.microsoft.com/office/drawing/2014/main" id="{0DE515EA-71C4-40B7-AFB0-0A9A3FDD702F}"/>
              </a:ext>
            </a:extLst>
          </p:cNvPr>
          <p:cNvSpPr>
            <a:spLocks xmlns:a="http://schemas.openxmlformats.org/drawingml/2006/main" noGrp="1"/>
          </p:cNvSpPr>
          <p:nvPr/>
        </p:nvSpPr>
        <p:spPr>
          <a:xfrm xmlns:a="http://schemas.openxmlformats.org/drawingml/2006/main">
            <a:off x="1162050" y="1695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A stuck, drifting, or spiking sensor can make a station feed misleading.</a:t>
            </a:r>
          </a:p>
        </p:txBody>
      </p:sp>
      <p:sp>
        <p:nvSpPr>
          <p:cNvPr id="7" name="">
            <a:extLst xmlns:a="http://schemas.openxmlformats.org/drawingml/2006/main">
              <a:ext uri="{FF2B5EF4-FFF2-40B4-BE49-F238E27FC236}">
                <a16:creationId xmlns:a16="http://schemas.microsoft.com/office/drawing/2014/main" id="{37F9CADD-4567-4F69-A2F3-3DBB5B6D9B4D}"/>
              </a:ext>
            </a:extLst>
          </p:cNvPr>
          <p:cNvSpPr>
            <a:spLocks xmlns:a="http://schemas.openxmlformats.org/drawingml/2006/main" noGrp="1"/>
          </p:cNvSpPr>
          <p:nvPr/>
        </p:nvSpPr>
        <p:spPr>
          <a:xfrm xmlns:a="http://schemas.openxmlformats.org/drawingml/2006/main">
            <a:off x="876300" y="24574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8" name="">
            <a:extLst xmlns:a="http://schemas.openxmlformats.org/drawingml/2006/main">
              <a:ext uri="{FF2B5EF4-FFF2-40B4-BE49-F238E27FC236}">
                <a16:creationId xmlns:a16="http://schemas.microsoft.com/office/drawing/2014/main" id="{029CB8A0-B623-4E08-B21C-237DDC44EE33}"/>
              </a:ext>
            </a:extLst>
          </p:cNvPr>
          <p:cNvSpPr>
            <a:spLocks xmlns:a="http://schemas.openxmlformats.org/drawingml/2006/main" noGrp="1"/>
          </p:cNvSpPr>
          <p:nvPr/>
        </p:nvSpPr>
        <p:spPr>
          <a:xfrm xmlns:a="http://schemas.openxmlformats.org/drawingml/2006/main">
            <a:off x="116205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A sudden real weather change can look like a sensor fault.</a:t>
            </a:r>
          </a:p>
        </p:txBody>
      </p:sp>
      <p:sp>
        <p:nvSpPr>
          <p:cNvPr id="9" name="">
            <a:extLst xmlns:a="http://schemas.openxmlformats.org/drawingml/2006/main">
              <a:ext uri="{FF2B5EF4-FFF2-40B4-BE49-F238E27FC236}">
                <a16:creationId xmlns:a16="http://schemas.microsoft.com/office/drawing/2014/main" id="{6ADFC73D-213D-4BD9-BC0A-A81519570FF2}"/>
              </a:ext>
            </a:extLst>
          </p:cNvPr>
          <p:cNvSpPr>
            <a:spLocks xmlns:a="http://schemas.openxmlformats.org/drawingml/2006/main" noGrp="1"/>
          </p:cNvSpPr>
          <p:nvPr/>
        </p:nvSpPr>
        <p:spPr>
          <a:xfrm xmlns:a="http://schemas.openxmlformats.org/drawingml/2006/main">
            <a:off x="876300" y="32194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0" name="">
            <a:extLst xmlns:a="http://schemas.openxmlformats.org/drawingml/2006/main">
              <a:ext uri="{FF2B5EF4-FFF2-40B4-BE49-F238E27FC236}">
                <a16:creationId xmlns:a16="http://schemas.microsoft.com/office/drawing/2014/main" id="{A276DDEA-09F4-4603-82B4-6BACA76BA826}"/>
              </a:ext>
            </a:extLst>
          </p:cNvPr>
          <p:cNvSpPr>
            <a:spLocks xmlns:a="http://schemas.openxmlformats.org/drawingml/2006/main" noGrp="1"/>
          </p:cNvSpPr>
          <p:nvPr/>
        </p:nvSpPr>
        <p:spPr>
          <a:xfrm xmlns:a="http://schemas.openxmlformats.org/drawingml/2006/main">
            <a:off x="1162050" y="3219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Operators need a clear alert and a usable current reading.</a:t>
            </a:r>
          </a:p>
        </p:txBody>
      </p:sp>
      <p:sp>
        <p:nvSpPr>
          <p:cNvPr id="11" name="">
            <a:extLst xmlns:a="http://schemas.openxmlformats.org/drawingml/2006/main">
              <a:ext uri="{FF2B5EF4-FFF2-40B4-BE49-F238E27FC236}">
                <a16:creationId xmlns:a16="http://schemas.microsoft.com/office/drawing/2014/main" id="{C3A8F8A8-9A6E-4059-9E31-4445433F05D8}"/>
              </a:ext>
            </a:extLst>
          </p:cNvPr>
          <p:cNvSpPr>
            <a:spLocks xmlns:a="http://schemas.openxmlformats.org/drawingml/2006/main" noGrp="1"/>
          </p:cNvSpPr>
          <p:nvPr/>
        </p:nvSpPr>
        <p:spPr>
          <a:xfrm xmlns:a="http://schemas.openxmlformats.org/drawingml/2006/main">
            <a:off x="6667500" y="1695450"/>
            <a:ext cx="4095750" cy="2952750"/>
          </a:xfrm>
          <a:prstGeom xmlns:a="http://schemas.openxmlformats.org/drawingml/2006/main" prst="roundRect">
            <a:avLst>
              <a:gd name="adj" fmla="val 2581"/>
            </a:avLst>
          </a:prstGeom>
          <a:solidFill xmlns:a="http://schemas.openxmlformats.org/drawingml/2006/main">
            <a:srgbClr val="10243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025959-AB72-4E7B-8C98-66B60AD5D062}"/>
              </a:ext>
            </a:extLst>
          </p:cNvPr>
          <p:cNvSpPr>
            <a:spLocks xmlns:a="http://schemas.openxmlformats.org/drawingml/2006/main" noGrp="1"/>
          </p:cNvSpPr>
          <p:nvPr/>
        </p:nvSpPr>
        <p:spPr>
          <a:xfrm xmlns:a="http://schemas.openxmlformats.org/drawingml/2006/main">
            <a:off x="7048500" y="1981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65D6D1"/>
                </a:solidFill>
              </a:defRPr>
            </a:defPPr>
            <a:lvl1pPr>
              <a:defRPr sz="1050" b="1">
                <a:solidFill>
                  <a:srgbClr val="65D6D1"/>
                </a:solidFill>
              </a:defRPr>
            </a:lvl1pPr>
            <a:lvl2pPr>
              <a:defRPr sz="1050" b="1">
                <a:solidFill>
                  <a:srgbClr val="65D6D1"/>
                </a:solidFill>
              </a:defRPr>
            </a:lvl2pPr>
            <a:lvl3pPr>
              <a:defRPr sz="1050" b="1">
                <a:solidFill>
                  <a:srgbClr val="65D6D1"/>
                </a:solidFill>
              </a:defRPr>
            </a:lvl3pPr>
            <a:lvl4pPr>
              <a:defRPr sz="1050" b="1">
                <a:solidFill>
                  <a:srgbClr val="65D6D1"/>
                </a:solidFill>
              </a:defRPr>
            </a:lvl4pPr>
            <a:lvl5pPr>
              <a:defRPr sz="1050" b="1">
                <a:solidFill>
                  <a:srgbClr val="65D6D1"/>
                </a:solidFill>
              </a:defRPr>
            </a:lvl5pPr>
            <a:lvl6pPr>
              <a:defRPr sz="1050" b="1">
                <a:solidFill>
                  <a:srgbClr val="65D6D1"/>
                </a:solidFill>
              </a:defRPr>
            </a:lvl6pPr>
            <a:lvl7pPr>
              <a:defRPr sz="1050" b="1">
                <a:solidFill>
                  <a:srgbClr val="65D6D1"/>
                </a:solidFill>
              </a:defRPr>
            </a:lvl7pPr>
            <a:lvl8pPr>
              <a:defRPr sz="1050" b="1">
                <a:solidFill>
                  <a:srgbClr val="65D6D1"/>
                </a:solidFill>
              </a:defRPr>
            </a:lvl8pPr>
            <a:lvl9pPr>
              <a:defRPr sz="1050" b="1">
                <a:solidFill>
                  <a:srgbClr val="65D6D1"/>
                </a:solidFill>
              </a:defRPr>
            </a:lvl9pPr>
          </a:lstStyle>
          <a:p xmlns:a="http://schemas.openxmlformats.org/drawingml/2006/main">
            <a:pPr>
              <a:defRPr sz="1050" b="1">
                <a:solidFill>
                  <a:srgbClr val="65D6D1"/>
                </a:solidFill>
              </a:defRPr>
            </a:pPr>
            <a:r>
              <a:rPr sz="1050" b="1">
                <a:solidFill>
                  <a:srgbClr val="65D6D1"/>
                </a:solidFill>
              </a:rPr>
              <a:t>INPUT</a:t>
            </a:r>
          </a:p>
        </p:txBody>
      </p:sp>
      <p:sp>
        <p:nvSpPr>
          <p:cNvPr id="13" name="">
            <a:extLst xmlns:a="http://schemas.openxmlformats.org/drawingml/2006/main">
              <a:ext uri="{FF2B5EF4-FFF2-40B4-BE49-F238E27FC236}">
                <a16:creationId xmlns:a16="http://schemas.microsoft.com/office/drawing/2014/main" id="{30DBBB91-97E3-40F4-8EE4-212D25D71A37}"/>
              </a:ext>
            </a:extLst>
          </p:cNvPr>
          <p:cNvSpPr>
            <a:spLocks xmlns:a="http://schemas.openxmlformats.org/drawingml/2006/main" noGrp="1"/>
          </p:cNvSpPr>
          <p:nvPr/>
        </p:nvSpPr>
        <p:spPr>
          <a:xfrm xmlns:a="http://schemas.openxmlformats.org/drawingml/2006/main">
            <a:off x="7048500" y="233362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4F7F8"/>
                </a:solidFill>
              </a:defRPr>
            </a:defPPr>
            <a:lvl1pPr>
              <a:defRPr sz="1875" b="1">
                <a:solidFill>
                  <a:srgbClr val="F4F7F8"/>
                </a:solidFill>
              </a:defRPr>
            </a:lvl1pPr>
            <a:lvl2pPr>
              <a:defRPr sz="1875" b="1">
                <a:solidFill>
                  <a:srgbClr val="F4F7F8"/>
                </a:solidFill>
              </a:defRPr>
            </a:lvl2pPr>
            <a:lvl3pPr>
              <a:defRPr sz="1875" b="1">
                <a:solidFill>
                  <a:srgbClr val="F4F7F8"/>
                </a:solidFill>
              </a:defRPr>
            </a:lvl3pPr>
            <a:lvl4pPr>
              <a:defRPr sz="1875" b="1">
                <a:solidFill>
                  <a:srgbClr val="F4F7F8"/>
                </a:solidFill>
              </a:defRPr>
            </a:lvl4pPr>
            <a:lvl5pPr>
              <a:defRPr sz="1875" b="1">
                <a:solidFill>
                  <a:srgbClr val="F4F7F8"/>
                </a:solidFill>
              </a:defRPr>
            </a:lvl5pPr>
            <a:lvl6pPr>
              <a:defRPr sz="1875" b="1">
                <a:solidFill>
                  <a:srgbClr val="F4F7F8"/>
                </a:solidFill>
              </a:defRPr>
            </a:lvl6pPr>
            <a:lvl7pPr>
              <a:defRPr sz="1875" b="1">
                <a:solidFill>
                  <a:srgbClr val="F4F7F8"/>
                </a:solidFill>
              </a:defRPr>
            </a:lvl7pPr>
            <a:lvl8pPr>
              <a:defRPr sz="1875" b="1">
                <a:solidFill>
                  <a:srgbClr val="F4F7F8"/>
                </a:solidFill>
              </a:defRPr>
            </a:lvl8pPr>
            <a:lvl9pPr>
              <a:defRPr sz="1875" b="1">
                <a:solidFill>
                  <a:srgbClr val="F4F7F8"/>
                </a:solidFill>
              </a:defRPr>
            </a:lvl9pPr>
          </a:lstStyle>
          <a:p xmlns:a="http://schemas.openxmlformats.org/drawingml/2006/main">
            <a:pPr>
              <a:defRPr sz="1875" b="1">
                <a:solidFill>
                  <a:srgbClr val="F4F7F8"/>
                </a:solidFill>
              </a:defRPr>
            </a:pPr>
            <a:r>
              <a:rPr sz="1875" b="1">
                <a:solidFill>
                  <a:srgbClr val="F4F7F8"/>
                </a:solidFill>
              </a:rPr>
              <a:t>Hourly station telemetry</a:t>
            </a:r>
          </a:p>
        </p:txBody>
      </p:sp>
      <p:sp>
        <p:nvSpPr>
          <p:cNvPr id="14" name="">
            <a:extLst xmlns:a="http://schemas.openxmlformats.org/drawingml/2006/main">
              <a:ext uri="{FF2B5EF4-FFF2-40B4-BE49-F238E27FC236}">
                <a16:creationId xmlns:a16="http://schemas.microsoft.com/office/drawing/2014/main" id="{99DCA71A-A5C0-4DD5-BC5B-29524664DA75}"/>
              </a:ext>
            </a:extLst>
          </p:cNvPr>
          <p:cNvSpPr>
            <a:spLocks xmlns:a="http://schemas.openxmlformats.org/drawingml/2006/main" noGrp="1"/>
          </p:cNvSpPr>
          <p:nvPr/>
        </p:nvSpPr>
        <p:spPr>
          <a:xfrm xmlns:a="http://schemas.openxmlformats.org/drawingml/2006/main">
            <a:off x="7048500" y="2895600"/>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A8BBC5"/>
                </a:solidFill>
              </a:defRPr>
            </a:defPPr>
            <a:lvl1pPr>
              <a:defRPr sz="1500" b="0">
                <a:solidFill>
                  <a:srgbClr val="A8BBC5"/>
                </a:solidFill>
              </a:defRPr>
            </a:lvl1pPr>
            <a:lvl2pPr>
              <a:defRPr sz="1500" b="0">
                <a:solidFill>
                  <a:srgbClr val="A8BBC5"/>
                </a:solidFill>
              </a:defRPr>
            </a:lvl2pPr>
            <a:lvl3pPr>
              <a:defRPr sz="1500" b="0">
                <a:solidFill>
                  <a:srgbClr val="A8BBC5"/>
                </a:solidFill>
              </a:defRPr>
            </a:lvl3pPr>
            <a:lvl4pPr>
              <a:defRPr sz="1500" b="0">
                <a:solidFill>
                  <a:srgbClr val="A8BBC5"/>
                </a:solidFill>
              </a:defRPr>
            </a:lvl4pPr>
            <a:lvl5pPr>
              <a:defRPr sz="1500" b="0">
                <a:solidFill>
                  <a:srgbClr val="A8BBC5"/>
                </a:solidFill>
              </a:defRPr>
            </a:lvl5pPr>
            <a:lvl6pPr>
              <a:defRPr sz="1500" b="0">
                <a:solidFill>
                  <a:srgbClr val="A8BBC5"/>
                </a:solidFill>
              </a:defRPr>
            </a:lvl6pPr>
            <a:lvl7pPr>
              <a:defRPr sz="1500" b="0">
                <a:solidFill>
                  <a:srgbClr val="A8BBC5"/>
                </a:solidFill>
              </a:defRPr>
            </a:lvl7pPr>
            <a:lvl8pPr>
              <a:defRPr sz="1500" b="0">
                <a:solidFill>
                  <a:srgbClr val="A8BBC5"/>
                </a:solidFill>
              </a:defRPr>
            </a:lvl8pPr>
            <a:lvl9pPr>
              <a:defRPr sz="1500" b="0">
                <a:solidFill>
                  <a:srgbClr val="A8BBC5"/>
                </a:solidFill>
              </a:defRPr>
            </a:lvl9pPr>
          </a:lstStyle>
          <a:p xmlns:a="http://schemas.openxmlformats.org/drawingml/2006/main">
            <a:pPr>
              <a:defRPr sz="1500" b="0">
                <a:solidFill>
                  <a:srgbClr val="A8BBC5"/>
                </a:solidFill>
              </a:defRPr>
            </a:pPr>
            <a:r>
              <a:rPr sz="1500" b="0">
                <a:solidFill>
                  <a:srgbClr val="A8BBC5"/>
                </a:solidFill>
              </a:rPr>
              <a:t>Temperature   ·   Pressure</a:t>
            </a:r>
          </a:p>
          <a:p xmlns:a="http://schemas.openxmlformats.org/drawingml/2006/main">
            <a:pPr>
              <a:defRPr sz="1500" b="0">
                <a:solidFill>
                  <a:srgbClr val="A8BBC5"/>
                </a:solidFill>
              </a:defRPr>
            </a:pPr>
            <a:r>
              <a:rPr sz="1500" b="0">
                <a:solidFill>
                  <a:srgbClr val="A8BBC5"/>
                </a:solidFill>
              </a:rPr>
              <a:t>Relative humidity   ·   Hour</a:t>
            </a:r>
          </a:p>
        </p:txBody>
      </p:sp>
      <p:sp>
        <p:nvSpPr>
          <p:cNvPr id="15" name="">
            <a:extLst xmlns:a="http://schemas.openxmlformats.org/drawingml/2006/main">
              <a:ext uri="{FF2B5EF4-FFF2-40B4-BE49-F238E27FC236}">
                <a16:creationId xmlns:a16="http://schemas.microsoft.com/office/drawing/2014/main" id="{898D657B-149E-4879-9B01-B2A4BBDEB4F6}"/>
              </a:ext>
            </a:extLst>
          </p:cNvPr>
          <p:cNvSpPr>
            <a:spLocks xmlns:a="http://schemas.openxmlformats.org/drawingml/2006/main" noGrp="1"/>
          </p:cNvSpPr>
          <p:nvPr/>
        </p:nvSpPr>
        <p:spPr>
          <a:xfrm xmlns:a="http://schemas.openxmlformats.org/drawingml/2006/main">
            <a:off x="7048500" y="38385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F3BB63"/>
                </a:solidFill>
              </a:defRPr>
            </a:defPPr>
            <a:lvl1pPr>
              <a:defRPr sz="1050" b="1">
                <a:solidFill>
                  <a:srgbClr val="F3BB63"/>
                </a:solidFill>
              </a:defRPr>
            </a:lvl1pPr>
            <a:lvl2pPr>
              <a:defRPr sz="1050" b="1">
                <a:solidFill>
                  <a:srgbClr val="F3BB63"/>
                </a:solidFill>
              </a:defRPr>
            </a:lvl2pPr>
            <a:lvl3pPr>
              <a:defRPr sz="1050" b="1">
                <a:solidFill>
                  <a:srgbClr val="F3BB63"/>
                </a:solidFill>
              </a:defRPr>
            </a:lvl3pPr>
            <a:lvl4pPr>
              <a:defRPr sz="1050" b="1">
                <a:solidFill>
                  <a:srgbClr val="F3BB63"/>
                </a:solidFill>
              </a:defRPr>
            </a:lvl4pPr>
            <a:lvl5pPr>
              <a:defRPr sz="1050" b="1">
                <a:solidFill>
                  <a:srgbClr val="F3BB63"/>
                </a:solidFill>
              </a:defRPr>
            </a:lvl5pPr>
            <a:lvl6pPr>
              <a:defRPr sz="1050" b="1">
                <a:solidFill>
                  <a:srgbClr val="F3BB63"/>
                </a:solidFill>
              </a:defRPr>
            </a:lvl6pPr>
            <a:lvl7pPr>
              <a:defRPr sz="1050" b="1">
                <a:solidFill>
                  <a:srgbClr val="F3BB63"/>
                </a:solidFill>
              </a:defRPr>
            </a:lvl7pPr>
            <a:lvl8pPr>
              <a:defRPr sz="1050" b="1">
                <a:solidFill>
                  <a:srgbClr val="F3BB63"/>
                </a:solidFill>
              </a:defRPr>
            </a:lvl8pPr>
            <a:lvl9pPr>
              <a:defRPr sz="1050" b="1">
                <a:solidFill>
                  <a:srgbClr val="F3BB63"/>
                </a:solidFill>
              </a:defRPr>
            </a:lvl9pPr>
          </a:lstStyle>
          <a:p xmlns:a="http://schemas.openxmlformats.org/drawingml/2006/main">
            <a:pPr>
              <a:defRPr sz="1050" b="1">
                <a:solidFill>
                  <a:srgbClr val="F3BB63"/>
                </a:solidFill>
              </a:defRPr>
            </a:pPr>
            <a:r>
              <a:rPr sz="1050" b="1">
                <a:solidFill>
                  <a:srgbClr val="F3BB63"/>
                </a:solidFill>
              </a:rPr>
              <a:t>OUTPUT</a:t>
            </a:r>
          </a:p>
        </p:txBody>
      </p:sp>
      <p:sp>
        <p:nvSpPr>
          <p:cNvPr id="16" name="">
            <a:extLst xmlns:a="http://schemas.openxmlformats.org/drawingml/2006/main">
              <a:ext uri="{FF2B5EF4-FFF2-40B4-BE49-F238E27FC236}">
                <a16:creationId xmlns:a16="http://schemas.microsoft.com/office/drawing/2014/main" id="{9BD8CF3A-83FF-4574-8415-E72DCA926DE5}"/>
              </a:ext>
            </a:extLst>
          </p:cNvPr>
          <p:cNvSpPr>
            <a:spLocks xmlns:a="http://schemas.openxmlformats.org/drawingml/2006/main" noGrp="1"/>
          </p:cNvSpPr>
          <p:nvPr/>
        </p:nvSpPr>
        <p:spPr>
          <a:xfrm xmlns:a="http://schemas.openxmlformats.org/drawingml/2006/main">
            <a:off x="7048500" y="416242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4F7F8"/>
                </a:solidFill>
              </a:defRPr>
            </a:defPPr>
            <a:lvl1pPr>
              <a:defRPr sz="1650" b="1">
                <a:solidFill>
                  <a:srgbClr val="F4F7F8"/>
                </a:solidFill>
              </a:defRPr>
            </a:lvl1pPr>
            <a:lvl2pPr>
              <a:defRPr sz="1650" b="1">
                <a:solidFill>
                  <a:srgbClr val="F4F7F8"/>
                </a:solidFill>
              </a:defRPr>
            </a:lvl2pPr>
            <a:lvl3pPr>
              <a:defRPr sz="1650" b="1">
                <a:solidFill>
                  <a:srgbClr val="F4F7F8"/>
                </a:solidFill>
              </a:defRPr>
            </a:lvl3pPr>
            <a:lvl4pPr>
              <a:defRPr sz="1650" b="1">
                <a:solidFill>
                  <a:srgbClr val="F4F7F8"/>
                </a:solidFill>
              </a:defRPr>
            </a:lvl4pPr>
            <a:lvl5pPr>
              <a:defRPr sz="1650" b="1">
                <a:solidFill>
                  <a:srgbClr val="F4F7F8"/>
                </a:solidFill>
              </a:defRPr>
            </a:lvl5pPr>
            <a:lvl6pPr>
              <a:defRPr sz="1650" b="1">
                <a:solidFill>
                  <a:srgbClr val="F4F7F8"/>
                </a:solidFill>
              </a:defRPr>
            </a:lvl6pPr>
            <a:lvl7pPr>
              <a:defRPr sz="1650" b="1">
                <a:solidFill>
                  <a:srgbClr val="F4F7F8"/>
                </a:solidFill>
              </a:defRPr>
            </a:lvl7pPr>
            <a:lvl8pPr>
              <a:defRPr sz="1650" b="1">
                <a:solidFill>
                  <a:srgbClr val="F4F7F8"/>
                </a:solidFill>
              </a:defRPr>
            </a:lvl8pPr>
            <a:lvl9pPr>
              <a:defRPr sz="1650" b="1">
                <a:solidFill>
                  <a:srgbClr val="F4F7F8"/>
                </a:solidFill>
              </a:defRPr>
            </a:lvl9pPr>
          </a:lstStyle>
          <a:p xmlns:a="http://schemas.openxmlformats.org/drawingml/2006/main">
            <a:pPr>
              <a:defRPr sz="1650" b="1">
                <a:solidFill>
                  <a:srgbClr val="F4F7F8"/>
                </a:solidFill>
              </a:defRPr>
            </a:pPr>
            <a:r>
              <a:rPr sz="1650" b="1">
                <a:solidFill>
                  <a:srgbClr val="F4F7F8"/>
                </a:solidFill>
              </a:rPr>
              <a:t>Health status + recovered values</a:t>
            </a:r>
          </a:p>
        </p:txBody>
      </p:sp>
    </p:spTree>
    <p:extLst>
      <p:ext uri="{BB962C8B-B14F-4D97-AF65-F5344CB8AC3E}">
        <p14:creationId xmlns:p14="http://schemas.microsoft.com/office/powerpoint/2010/main" val="1269437472"/>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29B360A-2670-415B-BD5B-F8E1F001012C}"/>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F7E21792-C50A-4E60-98A3-6995B9D81FCA}"/>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What we built</a:t>
            </a:r>
          </a:p>
        </p:txBody>
      </p:sp>
      <p:sp>
        <p:nvSpPr>
          <p:cNvPr id="3" name="">
            <a:extLst xmlns:a="http://schemas.openxmlformats.org/drawingml/2006/main">
              <a:ext uri="{FF2B5EF4-FFF2-40B4-BE49-F238E27FC236}">
                <a16:creationId xmlns:a16="http://schemas.microsoft.com/office/drawing/2014/main" id="{1FA183E4-E707-418A-B894-B055D6C38B14}"/>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2DC9E8-36D4-44AE-A6D2-2630EF121915}"/>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B291E1E8-6381-4E31-8D17-9879F777B82B}"/>
              </a:ext>
            </a:extLst>
          </p:cNvPr>
          <p:cNvSpPr>
            <a:spLocks xmlns:a="http://schemas.openxmlformats.org/drawingml/2006/main" noGrp="1"/>
          </p:cNvSpPr>
          <p:nvPr/>
        </p:nvSpPr>
        <p:spPr>
          <a:xfrm xmlns:a="http://schemas.openxmlformats.org/drawingml/2006/main">
            <a:off x="742950" y="2095500"/>
            <a:ext cx="2333625" cy="2171700"/>
          </a:xfrm>
          <a:prstGeom xmlns:a="http://schemas.openxmlformats.org/drawingml/2006/main" prst="roundRect">
            <a:avLst>
              <a:gd name="adj" fmla="val 3509"/>
            </a:avLst>
          </a:prstGeom>
          <a:solidFill xmlns:a="http://schemas.openxmlformats.org/drawingml/2006/main">
            <a:srgbClr val="10243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C43422B-3CC0-4229-8564-D171A9B5B451}"/>
              </a:ext>
            </a:extLst>
          </p:cNvPr>
          <p:cNvSpPr>
            <a:spLocks xmlns:a="http://schemas.openxmlformats.org/drawingml/2006/main" noGrp="1"/>
          </p:cNvSpPr>
          <p:nvPr/>
        </p:nvSpPr>
        <p:spPr>
          <a:xfrm xmlns:a="http://schemas.openxmlformats.org/drawingml/2006/main">
            <a:off x="933450" y="22860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65D6D1"/>
                </a:solidFill>
              </a:defRPr>
            </a:defPPr>
            <a:lvl1pPr>
              <a:defRPr sz="1650" b="1">
                <a:solidFill>
                  <a:srgbClr val="65D6D1"/>
                </a:solidFill>
              </a:defRPr>
            </a:lvl1pPr>
            <a:lvl2pPr>
              <a:defRPr sz="1650" b="1">
                <a:solidFill>
                  <a:srgbClr val="65D6D1"/>
                </a:solidFill>
              </a:defRPr>
            </a:lvl2pPr>
            <a:lvl3pPr>
              <a:defRPr sz="1650" b="1">
                <a:solidFill>
                  <a:srgbClr val="65D6D1"/>
                </a:solidFill>
              </a:defRPr>
            </a:lvl3pPr>
            <a:lvl4pPr>
              <a:defRPr sz="1650" b="1">
                <a:solidFill>
                  <a:srgbClr val="65D6D1"/>
                </a:solidFill>
              </a:defRPr>
            </a:lvl4pPr>
            <a:lvl5pPr>
              <a:defRPr sz="1650" b="1">
                <a:solidFill>
                  <a:srgbClr val="65D6D1"/>
                </a:solidFill>
              </a:defRPr>
            </a:lvl5pPr>
            <a:lvl6pPr>
              <a:defRPr sz="1650" b="1">
                <a:solidFill>
                  <a:srgbClr val="65D6D1"/>
                </a:solidFill>
              </a:defRPr>
            </a:lvl6pPr>
            <a:lvl7pPr>
              <a:defRPr sz="1650" b="1">
                <a:solidFill>
                  <a:srgbClr val="65D6D1"/>
                </a:solidFill>
              </a:defRPr>
            </a:lvl7pPr>
            <a:lvl8pPr>
              <a:defRPr sz="1650" b="1">
                <a:solidFill>
                  <a:srgbClr val="65D6D1"/>
                </a:solidFill>
              </a:defRPr>
            </a:lvl8pPr>
            <a:lvl9pPr>
              <a:defRPr sz="1650" b="1">
                <a:solidFill>
                  <a:srgbClr val="65D6D1"/>
                </a:solidFill>
              </a:defRPr>
            </a:lvl9pPr>
          </a:lstStyle>
          <a:p xmlns:a="http://schemas.openxmlformats.org/drawingml/2006/main">
            <a:pPr>
              <a:defRPr sz="1650" b="1">
                <a:solidFill>
                  <a:srgbClr val="65D6D1"/>
                </a:solidFill>
              </a:defRPr>
            </a:pPr>
            <a:r>
              <a:rPr sz="1650" b="1">
                <a:solidFill>
                  <a:srgbClr val="65D6D1"/>
                </a:solidFill>
              </a:rPr>
              <a:t>01</a:t>
            </a:r>
          </a:p>
        </p:txBody>
      </p:sp>
      <p:sp>
        <p:nvSpPr>
          <p:cNvPr id="7" name="">
            <a:extLst xmlns:a="http://schemas.openxmlformats.org/drawingml/2006/main">
              <a:ext uri="{FF2B5EF4-FFF2-40B4-BE49-F238E27FC236}">
                <a16:creationId xmlns:a16="http://schemas.microsoft.com/office/drawing/2014/main" id="{D0542E4D-1348-45BA-9385-E3B93A8D5DC5}"/>
              </a:ext>
            </a:extLst>
          </p:cNvPr>
          <p:cNvSpPr>
            <a:spLocks xmlns:a="http://schemas.openxmlformats.org/drawingml/2006/main" noGrp="1"/>
          </p:cNvSpPr>
          <p:nvPr/>
        </p:nvSpPr>
        <p:spPr>
          <a:xfrm xmlns:a="http://schemas.openxmlformats.org/drawingml/2006/main">
            <a:off x="933450" y="283845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4F7F8"/>
                </a:solidFill>
              </a:defRPr>
            </a:defPPr>
            <a:lvl1pPr>
              <a:defRPr sz="1875" b="1">
                <a:solidFill>
                  <a:srgbClr val="F4F7F8"/>
                </a:solidFill>
              </a:defRPr>
            </a:lvl1pPr>
            <a:lvl2pPr>
              <a:defRPr sz="1875" b="1">
                <a:solidFill>
                  <a:srgbClr val="F4F7F8"/>
                </a:solidFill>
              </a:defRPr>
            </a:lvl2pPr>
            <a:lvl3pPr>
              <a:defRPr sz="1875" b="1">
                <a:solidFill>
                  <a:srgbClr val="F4F7F8"/>
                </a:solidFill>
              </a:defRPr>
            </a:lvl3pPr>
            <a:lvl4pPr>
              <a:defRPr sz="1875" b="1">
                <a:solidFill>
                  <a:srgbClr val="F4F7F8"/>
                </a:solidFill>
              </a:defRPr>
            </a:lvl4pPr>
            <a:lvl5pPr>
              <a:defRPr sz="1875" b="1">
                <a:solidFill>
                  <a:srgbClr val="F4F7F8"/>
                </a:solidFill>
              </a:defRPr>
            </a:lvl5pPr>
            <a:lvl6pPr>
              <a:defRPr sz="1875" b="1">
                <a:solidFill>
                  <a:srgbClr val="F4F7F8"/>
                </a:solidFill>
              </a:defRPr>
            </a:lvl6pPr>
            <a:lvl7pPr>
              <a:defRPr sz="1875" b="1">
                <a:solidFill>
                  <a:srgbClr val="F4F7F8"/>
                </a:solidFill>
              </a:defRPr>
            </a:lvl7pPr>
            <a:lvl8pPr>
              <a:defRPr sz="1875" b="1">
                <a:solidFill>
                  <a:srgbClr val="F4F7F8"/>
                </a:solidFill>
              </a:defRPr>
            </a:lvl8pPr>
            <a:lvl9pPr>
              <a:defRPr sz="1875" b="1">
                <a:solidFill>
                  <a:srgbClr val="F4F7F8"/>
                </a:solidFill>
              </a:defRPr>
            </a:lvl9pPr>
          </a:lstStyle>
          <a:p xmlns:a="http://schemas.openxmlformats.org/drawingml/2006/main">
            <a:pPr>
              <a:defRPr sz="1875" b="1">
                <a:solidFill>
                  <a:srgbClr val="F4F7F8"/>
                </a:solidFill>
              </a:defRPr>
            </a:pPr>
            <a:r>
              <a:rPr sz="1875" b="1">
                <a:solidFill>
                  <a:srgbClr val="F4F7F8"/>
                </a:solidFill>
              </a:rPr>
              <a:t>Load data</a:t>
            </a:r>
          </a:p>
        </p:txBody>
      </p:sp>
      <p:sp>
        <p:nvSpPr>
          <p:cNvPr id="8" name="">
            <a:extLst xmlns:a="http://schemas.openxmlformats.org/drawingml/2006/main">
              <a:ext uri="{FF2B5EF4-FFF2-40B4-BE49-F238E27FC236}">
                <a16:creationId xmlns:a16="http://schemas.microsoft.com/office/drawing/2014/main" id="{7261BBC7-FD7E-4D5D-93BC-0483ADE9DF4C}"/>
              </a:ext>
            </a:extLst>
          </p:cNvPr>
          <p:cNvSpPr>
            <a:spLocks xmlns:a="http://schemas.openxmlformats.org/drawingml/2006/main" noGrp="1"/>
          </p:cNvSpPr>
          <p:nvPr/>
        </p:nvSpPr>
        <p:spPr>
          <a:xfrm xmlns:a="http://schemas.openxmlformats.org/drawingml/2006/main">
            <a:off x="933450" y="3390900"/>
            <a:ext cx="1952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A8BBC5"/>
                </a:solidFill>
              </a:defRPr>
            </a:defPPr>
            <a:lvl1pPr>
              <a:defRPr sz="1350" b="0">
                <a:solidFill>
                  <a:srgbClr val="A8BBC5"/>
                </a:solidFill>
              </a:defRPr>
            </a:lvl1pPr>
            <a:lvl2pPr>
              <a:defRPr sz="1350" b="0">
                <a:solidFill>
                  <a:srgbClr val="A8BBC5"/>
                </a:solidFill>
              </a:defRPr>
            </a:lvl2pPr>
            <a:lvl3pPr>
              <a:defRPr sz="1350" b="0">
                <a:solidFill>
                  <a:srgbClr val="A8BBC5"/>
                </a:solidFill>
              </a:defRPr>
            </a:lvl3pPr>
            <a:lvl4pPr>
              <a:defRPr sz="1350" b="0">
                <a:solidFill>
                  <a:srgbClr val="A8BBC5"/>
                </a:solidFill>
              </a:defRPr>
            </a:lvl4pPr>
            <a:lvl5pPr>
              <a:defRPr sz="1350" b="0">
                <a:solidFill>
                  <a:srgbClr val="A8BBC5"/>
                </a:solidFill>
              </a:defRPr>
            </a:lvl5pPr>
            <a:lvl6pPr>
              <a:defRPr sz="1350" b="0">
                <a:solidFill>
                  <a:srgbClr val="A8BBC5"/>
                </a:solidFill>
              </a:defRPr>
            </a:lvl6pPr>
            <a:lvl7pPr>
              <a:defRPr sz="1350" b="0">
                <a:solidFill>
                  <a:srgbClr val="A8BBC5"/>
                </a:solidFill>
              </a:defRPr>
            </a:lvl7pPr>
            <a:lvl8pPr>
              <a:defRPr sz="1350" b="0">
                <a:solidFill>
                  <a:srgbClr val="A8BBC5"/>
                </a:solidFill>
              </a:defRPr>
            </a:lvl8pPr>
            <a:lvl9pPr>
              <a:defRPr sz="1350" b="0">
                <a:solidFill>
                  <a:srgbClr val="A8BBC5"/>
                </a:solidFill>
              </a:defRPr>
            </a:lvl9pPr>
          </a:lstStyle>
          <a:p xmlns:a="http://schemas.openxmlformats.org/drawingml/2006/main">
            <a:pPr>
              <a:defRPr sz="1350" b="0">
                <a:solidFill>
                  <a:srgbClr val="A8BBC5"/>
                </a:solidFill>
              </a:defRPr>
            </a:pPr>
            <a:r>
              <a:rPr sz="1350" b="0">
                <a:solidFill>
                  <a:srgbClr val="A8BBC5"/>
                </a:solidFill>
              </a:rPr>
              <a:t>24 chronological readings</a:t>
            </a:r>
          </a:p>
        </p:txBody>
      </p:sp>
      <p:sp>
        <p:nvSpPr>
          <p:cNvPr id="9" name="">
            <a:extLst xmlns:a="http://schemas.openxmlformats.org/drawingml/2006/main">
              <a:ext uri="{FF2B5EF4-FFF2-40B4-BE49-F238E27FC236}">
                <a16:creationId xmlns:a16="http://schemas.microsoft.com/office/drawing/2014/main" id="{88264070-471A-45EA-BE77-A59CD7A42A90}"/>
              </a:ext>
            </a:extLst>
          </p:cNvPr>
          <p:cNvSpPr>
            <a:spLocks xmlns:a="http://schemas.openxmlformats.org/drawingml/2006/main" noGrp="1"/>
          </p:cNvSpPr>
          <p:nvPr/>
        </p:nvSpPr>
        <p:spPr>
          <a:xfrm xmlns:a="http://schemas.openxmlformats.org/drawingml/2006/main">
            <a:off x="3124200" y="2971800"/>
            <a:ext cx="333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00" b="1">
                <a:solidFill>
                  <a:srgbClr val="F3BB63"/>
                </a:solidFill>
              </a:defRPr>
            </a:defPPr>
            <a:lvl1pPr>
              <a:defRPr sz="2100" b="1">
                <a:solidFill>
                  <a:srgbClr val="F3BB63"/>
                </a:solidFill>
              </a:defRPr>
            </a:lvl1pPr>
            <a:lvl2pPr>
              <a:defRPr sz="2100" b="1">
                <a:solidFill>
                  <a:srgbClr val="F3BB63"/>
                </a:solidFill>
              </a:defRPr>
            </a:lvl2pPr>
            <a:lvl3pPr>
              <a:defRPr sz="2100" b="1">
                <a:solidFill>
                  <a:srgbClr val="F3BB63"/>
                </a:solidFill>
              </a:defRPr>
            </a:lvl3pPr>
            <a:lvl4pPr>
              <a:defRPr sz="2100" b="1">
                <a:solidFill>
                  <a:srgbClr val="F3BB63"/>
                </a:solidFill>
              </a:defRPr>
            </a:lvl4pPr>
            <a:lvl5pPr>
              <a:defRPr sz="2100" b="1">
                <a:solidFill>
                  <a:srgbClr val="F3BB63"/>
                </a:solidFill>
              </a:defRPr>
            </a:lvl5pPr>
            <a:lvl6pPr>
              <a:defRPr sz="2100" b="1">
                <a:solidFill>
                  <a:srgbClr val="F3BB63"/>
                </a:solidFill>
              </a:defRPr>
            </a:lvl6pPr>
            <a:lvl7pPr>
              <a:defRPr sz="2100" b="1">
                <a:solidFill>
                  <a:srgbClr val="F3BB63"/>
                </a:solidFill>
              </a:defRPr>
            </a:lvl7pPr>
            <a:lvl8pPr>
              <a:defRPr sz="2100" b="1">
                <a:solidFill>
                  <a:srgbClr val="F3BB63"/>
                </a:solidFill>
              </a:defRPr>
            </a:lvl8pPr>
            <a:lvl9pPr>
              <a:defRPr sz="2100" b="1">
                <a:solidFill>
                  <a:srgbClr val="F3BB63"/>
                </a:solidFill>
              </a:defRPr>
            </a:lvl9pPr>
          </a:lstStyle>
          <a:p xmlns:a="http://schemas.openxmlformats.org/drawingml/2006/main">
            <a:pPr>
              <a:defRPr sz="2100" b="1">
                <a:solidFill>
                  <a:srgbClr val="F3BB63"/>
                </a:solidFill>
              </a:defRPr>
            </a:pPr>
            <a:r>
              <a:rPr sz="2100" b="1">
                <a:solidFill>
                  <a:srgbClr val="F3BB63"/>
                </a:solidFill>
              </a:rPr>
              <a:t>→</a:t>
            </a:r>
          </a:p>
        </p:txBody>
      </p:sp>
      <p:sp>
        <p:nvSpPr>
          <p:cNvPr id="10" name="">
            <a:extLst xmlns:a="http://schemas.openxmlformats.org/drawingml/2006/main">
              <a:ext uri="{FF2B5EF4-FFF2-40B4-BE49-F238E27FC236}">
                <a16:creationId xmlns:a16="http://schemas.microsoft.com/office/drawing/2014/main" id="{EFE6DE2C-3D06-47C3-81B4-E48B7161D026}"/>
              </a:ext>
            </a:extLst>
          </p:cNvPr>
          <p:cNvSpPr>
            <a:spLocks xmlns:a="http://schemas.openxmlformats.org/drawingml/2006/main" noGrp="1"/>
          </p:cNvSpPr>
          <p:nvPr/>
        </p:nvSpPr>
        <p:spPr>
          <a:xfrm xmlns:a="http://schemas.openxmlformats.org/drawingml/2006/main">
            <a:off x="3467100" y="2095500"/>
            <a:ext cx="2333625" cy="2171700"/>
          </a:xfrm>
          <a:prstGeom xmlns:a="http://schemas.openxmlformats.org/drawingml/2006/main" prst="roundRect">
            <a:avLst>
              <a:gd name="adj" fmla="val 3509"/>
            </a:avLst>
          </a:prstGeom>
          <a:solidFill xmlns:a="http://schemas.openxmlformats.org/drawingml/2006/main">
            <a:srgbClr val="10243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CF3D686-F9A8-4BF0-A21C-6CA8857F977E}"/>
              </a:ext>
            </a:extLst>
          </p:cNvPr>
          <p:cNvSpPr>
            <a:spLocks xmlns:a="http://schemas.openxmlformats.org/drawingml/2006/main" noGrp="1"/>
          </p:cNvSpPr>
          <p:nvPr/>
        </p:nvSpPr>
        <p:spPr>
          <a:xfrm xmlns:a="http://schemas.openxmlformats.org/drawingml/2006/main">
            <a:off x="3657600" y="22860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65D6D1"/>
                </a:solidFill>
              </a:defRPr>
            </a:defPPr>
            <a:lvl1pPr>
              <a:defRPr sz="1650" b="1">
                <a:solidFill>
                  <a:srgbClr val="65D6D1"/>
                </a:solidFill>
              </a:defRPr>
            </a:lvl1pPr>
            <a:lvl2pPr>
              <a:defRPr sz="1650" b="1">
                <a:solidFill>
                  <a:srgbClr val="65D6D1"/>
                </a:solidFill>
              </a:defRPr>
            </a:lvl2pPr>
            <a:lvl3pPr>
              <a:defRPr sz="1650" b="1">
                <a:solidFill>
                  <a:srgbClr val="65D6D1"/>
                </a:solidFill>
              </a:defRPr>
            </a:lvl3pPr>
            <a:lvl4pPr>
              <a:defRPr sz="1650" b="1">
                <a:solidFill>
                  <a:srgbClr val="65D6D1"/>
                </a:solidFill>
              </a:defRPr>
            </a:lvl4pPr>
            <a:lvl5pPr>
              <a:defRPr sz="1650" b="1">
                <a:solidFill>
                  <a:srgbClr val="65D6D1"/>
                </a:solidFill>
              </a:defRPr>
            </a:lvl5pPr>
            <a:lvl6pPr>
              <a:defRPr sz="1650" b="1">
                <a:solidFill>
                  <a:srgbClr val="65D6D1"/>
                </a:solidFill>
              </a:defRPr>
            </a:lvl6pPr>
            <a:lvl7pPr>
              <a:defRPr sz="1650" b="1">
                <a:solidFill>
                  <a:srgbClr val="65D6D1"/>
                </a:solidFill>
              </a:defRPr>
            </a:lvl7pPr>
            <a:lvl8pPr>
              <a:defRPr sz="1650" b="1">
                <a:solidFill>
                  <a:srgbClr val="65D6D1"/>
                </a:solidFill>
              </a:defRPr>
            </a:lvl8pPr>
            <a:lvl9pPr>
              <a:defRPr sz="1650" b="1">
                <a:solidFill>
                  <a:srgbClr val="65D6D1"/>
                </a:solidFill>
              </a:defRPr>
            </a:lvl9pPr>
          </a:lstStyle>
          <a:p xmlns:a="http://schemas.openxmlformats.org/drawingml/2006/main">
            <a:pPr>
              <a:defRPr sz="1650" b="1">
                <a:solidFill>
                  <a:srgbClr val="65D6D1"/>
                </a:solidFill>
              </a:defRPr>
            </a:pPr>
            <a:r>
              <a:rPr sz="1650" b="1">
                <a:solidFill>
                  <a:srgbClr val="65D6D1"/>
                </a:solidFill>
              </a:rPr>
              <a:t>02</a:t>
            </a:r>
          </a:p>
        </p:txBody>
      </p:sp>
      <p:sp>
        <p:nvSpPr>
          <p:cNvPr id="12" name="">
            <a:extLst xmlns:a="http://schemas.openxmlformats.org/drawingml/2006/main">
              <a:ext uri="{FF2B5EF4-FFF2-40B4-BE49-F238E27FC236}">
                <a16:creationId xmlns:a16="http://schemas.microsoft.com/office/drawing/2014/main" id="{D048855E-7F75-4D98-8C11-24F363A80BEF}"/>
              </a:ext>
            </a:extLst>
          </p:cNvPr>
          <p:cNvSpPr>
            <a:spLocks xmlns:a="http://schemas.openxmlformats.org/drawingml/2006/main" noGrp="1"/>
          </p:cNvSpPr>
          <p:nvPr/>
        </p:nvSpPr>
        <p:spPr>
          <a:xfrm xmlns:a="http://schemas.openxmlformats.org/drawingml/2006/main">
            <a:off x="3657600" y="283845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4F7F8"/>
                </a:solidFill>
              </a:defRPr>
            </a:defPPr>
            <a:lvl1pPr>
              <a:defRPr sz="1875" b="1">
                <a:solidFill>
                  <a:srgbClr val="F4F7F8"/>
                </a:solidFill>
              </a:defRPr>
            </a:lvl1pPr>
            <a:lvl2pPr>
              <a:defRPr sz="1875" b="1">
                <a:solidFill>
                  <a:srgbClr val="F4F7F8"/>
                </a:solidFill>
              </a:defRPr>
            </a:lvl2pPr>
            <a:lvl3pPr>
              <a:defRPr sz="1875" b="1">
                <a:solidFill>
                  <a:srgbClr val="F4F7F8"/>
                </a:solidFill>
              </a:defRPr>
            </a:lvl3pPr>
            <a:lvl4pPr>
              <a:defRPr sz="1875" b="1">
                <a:solidFill>
                  <a:srgbClr val="F4F7F8"/>
                </a:solidFill>
              </a:defRPr>
            </a:lvl4pPr>
            <a:lvl5pPr>
              <a:defRPr sz="1875" b="1">
                <a:solidFill>
                  <a:srgbClr val="F4F7F8"/>
                </a:solidFill>
              </a:defRPr>
            </a:lvl5pPr>
            <a:lvl6pPr>
              <a:defRPr sz="1875" b="1">
                <a:solidFill>
                  <a:srgbClr val="F4F7F8"/>
                </a:solidFill>
              </a:defRPr>
            </a:lvl6pPr>
            <a:lvl7pPr>
              <a:defRPr sz="1875" b="1">
                <a:solidFill>
                  <a:srgbClr val="F4F7F8"/>
                </a:solidFill>
              </a:defRPr>
            </a:lvl7pPr>
            <a:lvl8pPr>
              <a:defRPr sz="1875" b="1">
                <a:solidFill>
                  <a:srgbClr val="F4F7F8"/>
                </a:solidFill>
              </a:defRPr>
            </a:lvl8pPr>
            <a:lvl9pPr>
              <a:defRPr sz="1875" b="1">
                <a:solidFill>
                  <a:srgbClr val="F4F7F8"/>
                </a:solidFill>
              </a:defRPr>
            </a:lvl9pPr>
          </a:lstStyle>
          <a:p xmlns:a="http://schemas.openxmlformats.org/drawingml/2006/main">
            <a:pPr>
              <a:defRPr sz="1875" b="1">
                <a:solidFill>
                  <a:srgbClr val="F4F7F8"/>
                </a:solidFill>
              </a:defRPr>
            </a:pPr>
            <a:r>
              <a:rPr sz="1875" b="1">
                <a:solidFill>
                  <a:srgbClr val="F4F7F8"/>
                </a:solidFill>
              </a:rPr>
              <a:t>Detect</a:t>
            </a:r>
          </a:p>
        </p:txBody>
      </p:sp>
      <p:sp>
        <p:nvSpPr>
          <p:cNvPr id="13" name="">
            <a:extLst xmlns:a="http://schemas.openxmlformats.org/drawingml/2006/main">
              <a:ext uri="{FF2B5EF4-FFF2-40B4-BE49-F238E27FC236}">
                <a16:creationId xmlns:a16="http://schemas.microsoft.com/office/drawing/2014/main" id="{4031E6FF-09D6-484E-A9FD-56FF465213CF}"/>
              </a:ext>
            </a:extLst>
          </p:cNvPr>
          <p:cNvSpPr>
            <a:spLocks xmlns:a="http://schemas.openxmlformats.org/drawingml/2006/main" noGrp="1"/>
          </p:cNvSpPr>
          <p:nvPr/>
        </p:nvSpPr>
        <p:spPr>
          <a:xfrm xmlns:a="http://schemas.openxmlformats.org/drawingml/2006/main">
            <a:off x="3657600" y="3390900"/>
            <a:ext cx="1952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A8BBC5"/>
                </a:solidFill>
              </a:defRPr>
            </a:defPPr>
            <a:lvl1pPr>
              <a:defRPr sz="1350" b="0">
                <a:solidFill>
                  <a:srgbClr val="A8BBC5"/>
                </a:solidFill>
              </a:defRPr>
            </a:lvl1pPr>
            <a:lvl2pPr>
              <a:defRPr sz="1350" b="0">
                <a:solidFill>
                  <a:srgbClr val="A8BBC5"/>
                </a:solidFill>
              </a:defRPr>
            </a:lvl2pPr>
            <a:lvl3pPr>
              <a:defRPr sz="1350" b="0">
                <a:solidFill>
                  <a:srgbClr val="A8BBC5"/>
                </a:solidFill>
              </a:defRPr>
            </a:lvl3pPr>
            <a:lvl4pPr>
              <a:defRPr sz="1350" b="0">
                <a:solidFill>
                  <a:srgbClr val="A8BBC5"/>
                </a:solidFill>
              </a:defRPr>
            </a:lvl4pPr>
            <a:lvl5pPr>
              <a:defRPr sz="1350" b="0">
                <a:solidFill>
                  <a:srgbClr val="A8BBC5"/>
                </a:solidFill>
              </a:defRPr>
            </a:lvl5pPr>
            <a:lvl6pPr>
              <a:defRPr sz="1350" b="0">
                <a:solidFill>
                  <a:srgbClr val="A8BBC5"/>
                </a:solidFill>
              </a:defRPr>
            </a:lvl6pPr>
            <a:lvl7pPr>
              <a:defRPr sz="1350" b="0">
                <a:solidFill>
                  <a:srgbClr val="A8BBC5"/>
                </a:solidFill>
              </a:defRPr>
            </a:lvl7pPr>
            <a:lvl8pPr>
              <a:defRPr sz="1350" b="0">
                <a:solidFill>
                  <a:srgbClr val="A8BBC5"/>
                </a:solidFill>
              </a:defRPr>
            </a:lvl8pPr>
            <a:lvl9pPr>
              <a:defRPr sz="1350" b="0">
                <a:solidFill>
                  <a:srgbClr val="A8BBC5"/>
                </a:solidFill>
              </a:defRPr>
            </a:lvl9pPr>
          </a:lstStyle>
          <a:p xmlns:a="http://schemas.openxmlformats.org/drawingml/2006/main">
            <a:pPr>
              <a:defRPr sz="1350" b="0">
                <a:solidFill>
                  <a:srgbClr val="A8BBC5"/>
                </a:solidFill>
              </a:defRPr>
            </a:pPr>
            <a:r>
              <a:rPr sz="1350" b="0">
                <a:solidFill>
                  <a:srgbClr val="A8BBC5"/>
                </a:solidFill>
              </a:rPr>
              <a:t>LSTM reconstruction + signal checks</a:t>
            </a:r>
          </a:p>
        </p:txBody>
      </p:sp>
      <p:sp>
        <p:nvSpPr>
          <p:cNvPr id="14" name="">
            <a:extLst xmlns:a="http://schemas.openxmlformats.org/drawingml/2006/main">
              <a:ext uri="{FF2B5EF4-FFF2-40B4-BE49-F238E27FC236}">
                <a16:creationId xmlns:a16="http://schemas.microsoft.com/office/drawing/2014/main" id="{7495C6B6-4192-4686-AE7E-D293A8934F15}"/>
              </a:ext>
            </a:extLst>
          </p:cNvPr>
          <p:cNvSpPr>
            <a:spLocks xmlns:a="http://schemas.openxmlformats.org/drawingml/2006/main" noGrp="1"/>
          </p:cNvSpPr>
          <p:nvPr/>
        </p:nvSpPr>
        <p:spPr>
          <a:xfrm xmlns:a="http://schemas.openxmlformats.org/drawingml/2006/main">
            <a:off x="5848350" y="2971800"/>
            <a:ext cx="333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00" b="1">
                <a:solidFill>
                  <a:srgbClr val="F3BB63"/>
                </a:solidFill>
              </a:defRPr>
            </a:defPPr>
            <a:lvl1pPr>
              <a:defRPr sz="2100" b="1">
                <a:solidFill>
                  <a:srgbClr val="F3BB63"/>
                </a:solidFill>
              </a:defRPr>
            </a:lvl1pPr>
            <a:lvl2pPr>
              <a:defRPr sz="2100" b="1">
                <a:solidFill>
                  <a:srgbClr val="F3BB63"/>
                </a:solidFill>
              </a:defRPr>
            </a:lvl2pPr>
            <a:lvl3pPr>
              <a:defRPr sz="2100" b="1">
                <a:solidFill>
                  <a:srgbClr val="F3BB63"/>
                </a:solidFill>
              </a:defRPr>
            </a:lvl3pPr>
            <a:lvl4pPr>
              <a:defRPr sz="2100" b="1">
                <a:solidFill>
                  <a:srgbClr val="F3BB63"/>
                </a:solidFill>
              </a:defRPr>
            </a:lvl4pPr>
            <a:lvl5pPr>
              <a:defRPr sz="2100" b="1">
                <a:solidFill>
                  <a:srgbClr val="F3BB63"/>
                </a:solidFill>
              </a:defRPr>
            </a:lvl5pPr>
            <a:lvl6pPr>
              <a:defRPr sz="2100" b="1">
                <a:solidFill>
                  <a:srgbClr val="F3BB63"/>
                </a:solidFill>
              </a:defRPr>
            </a:lvl6pPr>
            <a:lvl7pPr>
              <a:defRPr sz="2100" b="1">
                <a:solidFill>
                  <a:srgbClr val="F3BB63"/>
                </a:solidFill>
              </a:defRPr>
            </a:lvl7pPr>
            <a:lvl8pPr>
              <a:defRPr sz="2100" b="1">
                <a:solidFill>
                  <a:srgbClr val="F3BB63"/>
                </a:solidFill>
              </a:defRPr>
            </a:lvl8pPr>
            <a:lvl9pPr>
              <a:defRPr sz="2100" b="1">
                <a:solidFill>
                  <a:srgbClr val="F3BB63"/>
                </a:solidFill>
              </a:defRPr>
            </a:lvl9pPr>
          </a:lstStyle>
          <a:p xmlns:a="http://schemas.openxmlformats.org/drawingml/2006/main">
            <a:pPr>
              <a:defRPr sz="2100" b="1">
                <a:solidFill>
                  <a:srgbClr val="F3BB63"/>
                </a:solidFill>
              </a:defRPr>
            </a:pPr>
            <a:r>
              <a:rPr sz="2100" b="1">
                <a:solidFill>
                  <a:srgbClr val="F3BB63"/>
                </a:solidFill>
              </a:rPr>
              <a:t>→</a:t>
            </a:r>
          </a:p>
        </p:txBody>
      </p:sp>
      <p:sp>
        <p:nvSpPr>
          <p:cNvPr id="15" name="">
            <a:extLst xmlns:a="http://schemas.openxmlformats.org/drawingml/2006/main">
              <a:ext uri="{FF2B5EF4-FFF2-40B4-BE49-F238E27FC236}">
                <a16:creationId xmlns:a16="http://schemas.microsoft.com/office/drawing/2014/main" id="{73DB348A-AEF6-4C95-89DD-1D4959314C1C}"/>
              </a:ext>
            </a:extLst>
          </p:cNvPr>
          <p:cNvSpPr>
            <a:spLocks xmlns:a="http://schemas.openxmlformats.org/drawingml/2006/main" noGrp="1"/>
          </p:cNvSpPr>
          <p:nvPr/>
        </p:nvSpPr>
        <p:spPr>
          <a:xfrm xmlns:a="http://schemas.openxmlformats.org/drawingml/2006/main">
            <a:off x="6191250" y="2095500"/>
            <a:ext cx="2333625" cy="2171700"/>
          </a:xfrm>
          <a:prstGeom xmlns:a="http://schemas.openxmlformats.org/drawingml/2006/main" prst="roundRect">
            <a:avLst>
              <a:gd name="adj" fmla="val 3509"/>
            </a:avLst>
          </a:prstGeom>
          <a:solidFill xmlns:a="http://schemas.openxmlformats.org/drawingml/2006/main">
            <a:srgbClr val="10243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8CADE6E-41AB-42CE-B9CE-99DC86EED4D7}"/>
              </a:ext>
            </a:extLst>
          </p:cNvPr>
          <p:cNvSpPr>
            <a:spLocks xmlns:a="http://schemas.openxmlformats.org/drawingml/2006/main" noGrp="1"/>
          </p:cNvSpPr>
          <p:nvPr/>
        </p:nvSpPr>
        <p:spPr>
          <a:xfrm xmlns:a="http://schemas.openxmlformats.org/drawingml/2006/main">
            <a:off x="6381750" y="22860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65D6D1"/>
                </a:solidFill>
              </a:defRPr>
            </a:defPPr>
            <a:lvl1pPr>
              <a:defRPr sz="1650" b="1">
                <a:solidFill>
                  <a:srgbClr val="65D6D1"/>
                </a:solidFill>
              </a:defRPr>
            </a:lvl1pPr>
            <a:lvl2pPr>
              <a:defRPr sz="1650" b="1">
                <a:solidFill>
                  <a:srgbClr val="65D6D1"/>
                </a:solidFill>
              </a:defRPr>
            </a:lvl2pPr>
            <a:lvl3pPr>
              <a:defRPr sz="1650" b="1">
                <a:solidFill>
                  <a:srgbClr val="65D6D1"/>
                </a:solidFill>
              </a:defRPr>
            </a:lvl3pPr>
            <a:lvl4pPr>
              <a:defRPr sz="1650" b="1">
                <a:solidFill>
                  <a:srgbClr val="65D6D1"/>
                </a:solidFill>
              </a:defRPr>
            </a:lvl4pPr>
            <a:lvl5pPr>
              <a:defRPr sz="1650" b="1">
                <a:solidFill>
                  <a:srgbClr val="65D6D1"/>
                </a:solidFill>
              </a:defRPr>
            </a:lvl5pPr>
            <a:lvl6pPr>
              <a:defRPr sz="1650" b="1">
                <a:solidFill>
                  <a:srgbClr val="65D6D1"/>
                </a:solidFill>
              </a:defRPr>
            </a:lvl6pPr>
            <a:lvl7pPr>
              <a:defRPr sz="1650" b="1">
                <a:solidFill>
                  <a:srgbClr val="65D6D1"/>
                </a:solidFill>
              </a:defRPr>
            </a:lvl7pPr>
            <a:lvl8pPr>
              <a:defRPr sz="1650" b="1">
                <a:solidFill>
                  <a:srgbClr val="65D6D1"/>
                </a:solidFill>
              </a:defRPr>
            </a:lvl8pPr>
            <a:lvl9pPr>
              <a:defRPr sz="1650" b="1">
                <a:solidFill>
                  <a:srgbClr val="65D6D1"/>
                </a:solidFill>
              </a:defRPr>
            </a:lvl9pPr>
          </a:lstStyle>
          <a:p xmlns:a="http://schemas.openxmlformats.org/drawingml/2006/main">
            <a:pPr>
              <a:defRPr sz="1650" b="1">
                <a:solidFill>
                  <a:srgbClr val="65D6D1"/>
                </a:solidFill>
              </a:defRPr>
            </a:pPr>
            <a:r>
              <a:rPr sz="1650" b="1">
                <a:solidFill>
                  <a:srgbClr val="65D6D1"/>
                </a:solidFill>
              </a:rPr>
              <a:t>03</a:t>
            </a:r>
          </a:p>
        </p:txBody>
      </p:sp>
      <p:sp>
        <p:nvSpPr>
          <p:cNvPr id="17" name="">
            <a:extLst xmlns:a="http://schemas.openxmlformats.org/drawingml/2006/main">
              <a:ext uri="{FF2B5EF4-FFF2-40B4-BE49-F238E27FC236}">
                <a16:creationId xmlns:a16="http://schemas.microsoft.com/office/drawing/2014/main" id="{C1064059-3CC3-4E1C-97F7-7D1E716DEFEA}"/>
              </a:ext>
            </a:extLst>
          </p:cNvPr>
          <p:cNvSpPr>
            <a:spLocks xmlns:a="http://schemas.openxmlformats.org/drawingml/2006/main" noGrp="1"/>
          </p:cNvSpPr>
          <p:nvPr/>
        </p:nvSpPr>
        <p:spPr>
          <a:xfrm xmlns:a="http://schemas.openxmlformats.org/drawingml/2006/main">
            <a:off x="6381750" y="283845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4F7F8"/>
                </a:solidFill>
              </a:defRPr>
            </a:defPPr>
            <a:lvl1pPr>
              <a:defRPr sz="1875" b="1">
                <a:solidFill>
                  <a:srgbClr val="F4F7F8"/>
                </a:solidFill>
              </a:defRPr>
            </a:lvl1pPr>
            <a:lvl2pPr>
              <a:defRPr sz="1875" b="1">
                <a:solidFill>
                  <a:srgbClr val="F4F7F8"/>
                </a:solidFill>
              </a:defRPr>
            </a:lvl2pPr>
            <a:lvl3pPr>
              <a:defRPr sz="1875" b="1">
                <a:solidFill>
                  <a:srgbClr val="F4F7F8"/>
                </a:solidFill>
              </a:defRPr>
            </a:lvl3pPr>
            <a:lvl4pPr>
              <a:defRPr sz="1875" b="1">
                <a:solidFill>
                  <a:srgbClr val="F4F7F8"/>
                </a:solidFill>
              </a:defRPr>
            </a:lvl4pPr>
            <a:lvl5pPr>
              <a:defRPr sz="1875" b="1">
                <a:solidFill>
                  <a:srgbClr val="F4F7F8"/>
                </a:solidFill>
              </a:defRPr>
            </a:lvl5pPr>
            <a:lvl6pPr>
              <a:defRPr sz="1875" b="1">
                <a:solidFill>
                  <a:srgbClr val="F4F7F8"/>
                </a:solidFill>
              </a:defRPr>
            </a:lvl6pPr>
            <a:lvl7pPr>
              <a:defRPr sz="1875" b="1">
                <a:solidFill>
                  <a:srgbClr val="F4F7F8"/>
                </a:solidFill>
              </a:defRPr>
            </a:lvl7pPr>
            <a:lvl8pPr>
              <a:defRPr sz="1875" b="1">
                <a:solidFill>
                  <a:srgbClr val="F4F7F8"/>
                </a:solidFill>
              </a:defRPr>
            </a:lvl8pPr>
            <a:lvl9pPr>
              <a:defRPr sz="1875" b="1">
                <a:solidFill>
                  <a:srgbClr val="F4F7F8"/>
                </a:solidFill>
              </a:defRPr>
            </a:lvl9pPr>
          </a:lstStyle>
          <a:p xmlns:a="http://schemas.openxmlformats.org/drawingml/2006/main">
            <a:pPr>
              <a:defRPr sz="1875" b="1">
                <a:solidFill>
                  <a:srgbClr val="F4F7F8"/>
                </a:solidFill>
              </a:defRPr>
            </a:pPr>
            <a:r>
              <a:rPr sz="1875" b="1">
                <a:solidFill>
                  <a:srgbClr val="F4F7F8"/>
                </a:solidFill>
              </a:rPr>
              <a:t>Interpret</a:t>
            </a:r>
          </a:p>
        </p:txBody>
      </p:sp>
      <p:sp>
        <p:nvSpPr>
          <p:cNvPr id="18" name="">
            <a:extLst xmlns:a="http://schemas.openxmlformats.org/drawingml/2006/main">
              <a:ext uri="{FF2B5EF4-FFF2-40B4-BE49-F238E27FC236}">
                <a16:creationId xmlns:a16="http://schemas.microsoft.com/office/drawing/2014/main" id="{1D45A432-0D59-4979-A692-506C0667D894}"/>
              </a:ext>
            </a:extLst>
          </p:cNvPr>
          <p:cNvSpPr>
            <a:spLocks xmlns:a="http://schemas.openxmlformats.org/drawingml/2006/main" noGrp="1"/>
          </p:cNvSpPr>
          <p:nvPr/>
        </p:nvSpPr>
        <p:spPr>
          <a:xfrm xmlns:a="http://schemas.openxmlformats.org/drawingml/2006/main">
            <a:off x="6381750" y="3390900"/>
            <a:ext cx="1952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A8BBC5"/>
                </a:solidFill>
              </a:defRPr>
            </a:defPPr>
            <a:lvl1pPr>
              <a:defRPr sz="1350" b="0">
                <a:solidFill>
                  <a:srgbClr val="A8BBC5"/>
                </a:solidFill>
              </a:defRPr>
            </a:lvl1pPr>
            <a:lvl2pPr>
              <a:defRPr sz="1350" b="0">
                <a:solidFill>
                  <a:srgbClr val="A8BBC5"/>
                </a:solidFill>
              </a:defRPr>
            </a:lvl2pPr>
            <a:lvl3pPr>
              <a:defRPr sz="1350" b="0">
                <a:solidFill>
                  <a:srgbClr val="A8BBC5"/>
                </a:solidFill>
              </a:defRPr>
            </a:lvl3pPr>
            <a:lvl4pPr>
              <a:defRPr sz="1350" b="0">
                <a:solidFill>
                  <a:srgbClr val="A8BBC5"/>
                </a:solidFill>
              </a:defRPr>
            </a:lvl4pPr>
            <a:lvl5pPr>
              <a:defRPr sz="1350" b="0">
                <a:solidFill>
                  <a:srgbClr val="A8BBC5"/>
                </a:solidFill>
              </a:defRPr>
            </a:lvl5pPr>
            <a:lvl6pPr>
              <a:defRPr sz="1350" b="0">
                <a:solidFill>
                  <a:srgbClr val="A8BBC5"/>
                </a:solidFill>
              </a:defRPr>
            </a:lvl6pPr>
            <a:lvl7pPr>
              <a:defRPr sz="1350" b="0">
                <a:solidFill>
                  <a:srgbClr val="A8BBC5"/>
                </a:solidFill>
              </a:defRPr>
            </a:lvl7pPr>
            <a:lvl8pPr>
              <a:defRPr sz="1350" b="0">
                <a:solidFill>
                  <a:srgbClr val="A8BBC5"/>
                </a:solidFill>
              </a:defRPr>
            </a:lvl8pPr>
            <a:lvl9pPr>
              <a:defRPr sz="1350" b="0">
                <a:solidFill>
                  <a:srgbClr val="A8BBC5"/>
                </a:solidFill>
              </a:defRPr>
            </a:lvl9pPr>
          </a:lstStyle>
          <a:p xmlns:a="http://schemas.openxmlformats.org/drawingml/2006/main">
            <a:pPr>
              <a:defRPr sz="1350" b="0">
                <a:solidFill>
                  <a:srgbClr val="A8BBC5"/>
                </a:solidFill>
              </a:defRPr>
            </a:pPr>
            <a:r>
              <a:rPr sz="1350" b="0">
                <a:solidFill>
                  <a:srgbClr val="A8BBC5"/>
                </a:solidFill>
              </a:rPr>
              <a:t>Fault category or severe-weather pass</a:t>
            </a:r>
          </a:p>
        </p:txBody>
      </p:sp>
      <p:sp>
        <p:nvSpPr>
          <p:cNvPr id="19" name="">
            <a:extLst xmlns:a="http://schemas.openxmlformats.org/drawingml/2006/main">
              <a:ext uri="{FF2B5EF4-FFF2-40B4-BE49-F238E27FC236}">
                <a16:creationId xmlns:a16="http://schemas.microsoft.com/office/drawing/2014/main" id="{E7E11FD7-0A0B-425D-B2BB-0D46DC971D21}"/>
              </a:ext>
            </a:extLst>
          </p:cNvPr>
          <p:cNvSpPr>
            <a:spLocks xmlns:a="http://schemas.openxmlformats.org/drawingml/2006/main" noGrp="1"/>
          </p:cNvSpPr>
          <p:nvPr/>
        </p:nvSpPr>
        <p:spPr>
          <a:xfrm xmlns:a="http://schemas.openxmlformats.org/drawingml/2006/main">
            <a:off x="8572500" y="2971800"/>
            <a:ext cx="333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00" b="1">
                <a:solidFill>
                  <a:srgbClr val="F3BB63"/>
                </a:solidFill>
              </a:defRPr>
            </a:defPPr>
            <a:lvl1pPr>
              <a:defRPr sz="2100" b="1">
                <a:solidFill>
                  <a:srgbClr val="F3BB63"/>
                </a:solidFill>
              </a:defRPr>
            </a:lvl1pPr>
            <a:lvl2pPr>
              <a:defRPr sz="2100" b="1">
                <a:solidFill>
                  <a:srgbClr val="F3BB63"/>
                </a:solidFill>
              </a:defRPr>
            </a:lvl2pPr>
            <a:lvl3pPr>
              <a:defRPr sz="2100" b="1">
                <a:solidFill>
                  <a:srgbClr val="F3BB63"/>
                </a:solidFill>
              </a:defRPr>
            </a:lvl3pPr>
            <a:lvl4pPr>
              <a:defRPr sz="2100" b="1">
                <a:solidFill>
                  <a:srgbClr val="F3BB63"/>
                </a:solidFill>
              </a:defRPr>
            </a:lvl4pPr>
            <a:lvl5pPr>
              <a:defRPr sz="2100" b="1">
                <a:solidFill>
                  <a:srgbClr val="F3BB63"/>
                </a:solidFill>
              </a:defRPr>
            </a:lvl5pPr>
            <a:lvl6pPr>
              <a:defRPr sz="2100" b="1">
                <a:solidFill>
                  <a:srgbClr val="F3BB63"/>
                </a:solidFill>
              </a:defRPr>
            </a:lvl6pPr>
            <a:lvl7pPr>
              <a:defRPr sz="2100" b="1">
                <a:solidFill>
                  <a:srgbClr val="F3BB63"/>
                </a:solidFill>
              </a:defRPr>
            </a:lvl7pPr>
            <a:lvl8pPr>
              <a:defRPr sz="2100" b="1">
                <a:solidFill>
                  <a:srgbClr val="F3BB63"/>
                </a:solidFill>
              </a:defRPr>
            </a:lvl8pPr>
            <a:lvl9pPr>
              <a:defRPr sz="2100" b="1">
                <a:solidFill>
                  <a:srgbClr val="F3BB63"/>
                </a:solidFill>
              </a:defRPr>
            </a:lvl9pPr>
          </a:lstStyle>
          <a:p xmlns:a="http://schemas.openxmlformats.org/drawingml/2006/main">
            <a:pPr>
              <a:defRPr sz="2100" b="1">
                <a:solidFill>
                  <a:srgbClr val="F3BB63"/>
                </a:solidFill>
              </a:defRPr>
            </a:pPr>
            <a:r>
              <a:rPr sz="2100" b="1">
                <a:solidFill>
                  <a:srgbClr val="F3BB63"/>
                </a:solidFill>
              </a:rPr>
              <a:t>→</a:t>
            </a:r>
          </a:p>
        </p:txBody>
      </p:sp>
      <p:sp>
        <p:nvSpPr>
          <p:cNvPr id="20" name="">
            <a:extLst xmlns:a="http://schemas.openxmlformats.org/drawingml/2006/main">
              <a:ext uri="{FF2B5EF4-FFF2-40B4-BE49-F238E27FC236}">
                <a16:creationId xmlns:a16="http://schemas.microsoft.com/office/drawing/2014/main" id="{58991C7F-66A1-4F67-B606-89A5900FD32A}"/>
              </a:ext>
            </a:extLst>
          </p:cNvPr>
          <p:cNvSpPr>
            <a:spLocks xmlns:a="http://schemas.openxmlformats.org/drawingml/2006/main" noGrp="1"/>
          </p:cNvSpPr>
          <p:nvPr/>
        </p:nvSpPr>
        <p:spPr>
          <a:xfrm xmlns:a="http://schemas.openxmlformats.org/drawingml/2006/main">
            <a:off x="8915400" y="2095500"/>
            <a:ext cx="2333625" cy="2171700"/>
          </a:xfrm>
          <a:prstGeom xmlns:a="http://schemas.openxmlformats.org/drawingml/2006/main" prst="roundRect">
            <a:avLst>
              <a:gd name="adj" fmla="val 3509"/>
            </a:avLst>
          </a:prstGeom>
          <a:solidFill xmlns:a="http://schemas.openxmlformats.org/drawingml/2006/main">
            <a:srgbClr val="10243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446675C-2936-4B15-A675-FB6890404A9C}"/>
              </a:ext>
            </a:extLst>
          </p:cNvPr>
          <p:cNvSpPr>
            <a:spLocks xmlns:a="http://schemas.openxmlformats.org/drawingml/2006/main" noGrp="1"/>
          </p:cNvSpPr>
          <p:nvPr/>
        </p:nvSpPr>
        <p:spPr>
          <a:xfrm xmlns:a="http://schemas.openxmlformats.org/drawingml/2006/main">
            <a:off x="9105900" y="22860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65D6D1"/>
                </a:solidFill>
              </a:defRPr>
            </a:defPPr>
            <a:lvl1pPr>
              <a:defRPr sz="1650" b="1">
                <a:solidFill>
                  <a:srgbClr val="65D6D1"/>
                </a:solidFill>
              </a:defRPr>
            </a:lvl1pPr>
            <a:lvl2pPr>
              <a:defRPr sz="1650" b="1">
                <a:solidFill>
                  <a:srgbClr val="65D6D1"/>
                </a:solidFill>
              </a:defRPr>
            </a:lvl2pPr>
            <a:lvl3pPr>
              <a:defRPr sz="1650" b="1">
                <a:solidFill>
                  <a:srgbClr val="65D6D1"/>
                </a:solidFill>
              </a:defRPr>
            </a:lvl3pPr>
            <a:lvl4pPr>
              <a:defRPr sz="1650" b="1">
                <a:solidFill>
                  <a:srgbClr val="65D6D1"/>
                </a:solidFill>
              </a:defRPr>
            </a:lvl4pPr>
            <a:lvl5pPr>
              <a:defRPr sz="1650" b="1">
                <a:solidFill>
                  <a:srgbClr val="65D6D1"/>
                </a:solidFill>
              </a:defRPr>
            </a:lvl5pPr>
            <a:lvl6pPr>
              <a:defRPr sz="1650" b="1">
                <a:solidFill>
                  <a:srgbClr val="65D6D1"/>
                </a:solidFill>
              </a:defRPr>
            </a:lvl6pPr>
            <a:lvl7pPr>
              <a:defRPr sz="1650" b="1">
                <a:solidFill>
                  <a:srgbClr val="65D6D1"/>
                </a:solidFill>
              </a:defRPr>
            </a:lvl7pPr>
            <a:lvl8pPr>
              <a:defRPr sz="1650" b="1">
                <a:solidFill>
                  <a:srgbClr val="65D6D1"/>
                </a:solidFill>
              </a:defRPr>
            </a:lvl8pPr>
            <a:lvl9pPr>
              <a:defRPr sz="1650" b="1">
                <a:solidFill>
                  <a:srgbClr val="65D6D1"/>
                </a:solidFill>
              </a:defRPr>
            </a:lvl9pPr>
          </a:lstStyle>
          <a:p xmlns:a="http://schemas.openxmlformats.org/drawingml/2006/main">
            <a:pPr>
              <a:defRPr sz="1650" b="1">
                <a:solidFill>
                  <a:srgbClr val="65D6D1"/>
                </a:solidFill>
              </a:defRPr>
            </a:pPr>
            <a:r>
              <a:rPr sz="1650" b="1">
                <a:solidFill>
                  <a:srgbClr val="65D6D1"/>
                </a:solidFill>
              </a:rPr>
              <a:t>04</a:t>
            </a:r>
          </a:p>
        </p:txBody>
      </p:sp>
      <p:sp>
        <p:nvSpPr>
          <p:cNvPr id="22" name="">
            <a:extLst xmlns:a="http://schemas.openxmlformats.org/drawingml/2006/main">
              <a:ext uri="{FF2B5EF4-FFF2-40B4-BE49-F238E27FC236}">
                <a16:creationId xmlns:a16="http://schemas.microsoft.com/office/drawing/2014/main" id="{1F819657-7298-4B14-919D-2E5F8516CB86}"/>
              </a:ext>
            </a:extLst>
          </p:cNvPr>
          <p:cNvSpPr>
            <a:spLocks xmlns:a="http://schemas.openxmlformats.org/drawingml/2006/main" noGrp="1"/>
          </p:cNvSpPr>
          <p:nvPr/>
        </p:nvSpPr>
        <p:spPr>
          <a:xfrm xmlns:a="http://schemas.openxmlformats.org/drawingml/2006/main">
            <a:off x="9105900" y="283845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4F7F8"/>
                </a:solidFill>
              </a:defRPr>
            </a:defPPr>
            <a:lvl1pPr>
              <a:defRPr sz="1875" b="1">
                <a:solidFill>
                  <a:srgbClr val="F4F7F8"/>
                </a:solidFill>
              </a:defRPr>
            </a:lvl1pPr>
            <a:lvl2pPr>
              <a:defRPr sz="1875" b="1">
                <a:solidFill>
                  <a:srgbClr val="F4F7F8"/>
                </a:solidFill>
              </a:defRPr>
            </a:lvl2pPr>
            <a:lvl3pPr>
              <a:defRPr sz="1875" b="1">
                <a:solidFill>
                  <a:srgbClr val="F4F7F8"/>
                </a:solidFill>
              </a:defRPr>
            </a:lvl3pPr>
            <a:lvl4pPr>
              <a:defRPr sz="1875" b="1">
                <a:solidFill>
                  <a:srgbClr val="F4F7F8"/>
                </a:solidFill>
              </a:defRPr>
            </a:lvl4pPr>
            <a:lvl5pPr>
              <a:defRPr sz="1875" b="1">
                <a:solidFill>
                  <a:srgbClr val="F4F7F8"/>
                </a:solidFill>
              </a:defRPr>
            </a:lvl5pPr>
            <a:lvl6pPr>
              <a:defRPr sz="1875" b="1">
                <a:solidFill>
                  <a:srgbClr val="F4F7F8"/>
                </a:solidFill>
              </a:defRPr>
            </a:lvl6pPr>
            <a:lvl7pPr>
              <a:defRPr sz="1875" b="1">
                <a:solidFill>
                  <a:srgbClr val="F4F7F8"/>
                </a:solidFill>
              </a:defRPr>
            </a:lvl7pPr>
            <a:lvl8pPr>
              <a:defRPr sz="1875" b="1">
                <a:solidFill>
                  <a:srgbClr val="F4F7F8"/>
                </a:solidFill>
              </a:defRPr>
            </a:lvl8pPr>
            <a:lvl9pPr>
              <a:defRPr sz="1875" b="1">
                <a:solidFill>
                  <a:srgbClr val="F4F7F8"/>
                </a:solidFill>
              </a:defRPr>
            </a:lvl9pPr>
          </a:lstStyle>
          <a:p xmlns:a="http://schemas.openxmlformats.org/drawingml/2006/main">
            <a:pPr>
              <a:defRPr sz="1875" b="1">
                <a:solidFill>
                  <a:srgbClr val="F4F7F8"/>
                </a:solidFill>
              </a:defRPr>
            </a:pPr>
            <a:r>
              <a:rPr sz="1875" b="1">
                <a:solidFill>
                  <a:srgbClr val="F4F7F8"/>
                </a:solidFill>
              </a:rPr>
              <a:t>Recover</a:t>
            </a:r>
          </a:p>
        </p:txBody>
      </p:sp>
      <p:sp>
        <p:nvSpPr>
          <p:cNvPr id="23" name="">
            <a:extLst xmlns:a="http://schemas.openxmlformats.org/drawingml/2006/main">
              <a:ext uri="{FF2B5EF4-FFF2-40B4-BE49-F238E27FC236}">
                <a16:creationId xmlns:a16="http://schemas.microsoft.com/office/drawing/2014/main" id="{08B82442-939A-4FBE-BB36-BB570F5F1AC1}"/>
              </a:ext>
            </a:extLst>
          </p:cNvPr>
          <p:cNvSpPr>
            <a:spLocks xmlns:a="http://schemas.openxmlformats.org/drawingml/2006/main" noGrp="1"/>
          </p:cNvSpPr>
          <p:nvPr/>
        </p:nvSpPr>
        <p:spPr>
          <a:xfrm xmlns:a="http://schemas.openxmlformats.org/drawingml/2006/main">
            <a:off x="9105900" y="3390900"/>
            <a:ext cx="1952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A8BBC5"/>
                </a:solidFill>
              </a:defRPr>
            </a:defPPr>
            <a:lvl1pPr>
              <a:defRPr sz="1350" b="0">
                <a:solidFill>
                  <a:srgbClr val="A8BBC5"/>
                </a:solidFill>
              </a:defRPr>
            </a:lvl1pPr>
            <a:lvl2pPr>
              <a:defRPr sz="1350" b="0">
                <a:solidFill>
                  <a:srgbClr val="A8BBC5"/>
                </a:solidFill>
              </a:defRPr>
            </a:lvl2pPr>
            <a:lvl3pPr>
              <a:defRPr sz="1350" b="0">
                <a:solidFill>
                  <a:srgbClr val="A8BBC5"/>
                </a:solidFill>
              </a:defRPr>
            </a:lvl3pPr>
            <a:lvl4pPr>
              <a:defRPr sz="1350" b="0">
                <a:solidFill>
                  <a:srgbClr val="A8BBC5"/>
                </a:solidFill>
              </a:defRPr>
            </a:lvl4pPr>
            <a:lvl5pPr>
              <a:defRPr sz="1350" b="0">
                <a:solidFill>
                  <a:srgbClr val="A8BBC5"/>
                </a:solidFill>
              </a:defRPr>
            </a:lvl5pPr>
            <a:lvl6pPr>
              <a:defRPr sz="1350" b="0">
                <a:solidFill>
                  <a:srgbClr val="A8BBC5"/>
                </a:solidFill>
              </a:defRPr>
            </a:lvl6pPr>
            <a:lvl7pPr>
              <a:defRPr sz="1350" b="0">
                <a:solidFill>
                  <a:srgbClr val="A8BBC5"/>
                </a:solidFill>
              </a:defRPr>
            </a:lvl7pPr>
            <a:lvl8pPr>
              <a:defRPr sz="1350" b="0">
                <a:solidFill>
                  <a:srgbClr val="A8BBC5"/>
                </a:solidFill>
              </a:defRPr>
            </a:lvl8pPr>
            <a:lvl9pPr>
              <a:defRPr sz="1350" b="0">
                <a:solidFill>
                  <a:srgbClr val="A8BBC5"/>
                </a:solidFill>
              </a:defRPr>
            </a:lvl9pPr>
          </a:lstStyle>
          <a:p xmlns:a="http://schemas.openxmlformats.org/drawingml/2006/main">
            <a:pPr>
              <a:defRPr sz="1350" b="0">
                <a:solidFill>
                  <a:srgbClr val="A8BBC5"/>
                </a:solidFill>
              </a:defRPr>
            </a:pPr>
            <a:r>
              <a:rPr sz="1350" b="0">
                <a:solidFill>
                  <a:srgbClr val="A8BBC5"/>
                </a:solidFill>
              </a:rPr>
              <a:t>Kalman-smoothed current values</a:t>
            </a:r>
          </a:p>
        </p:txBody>
      </p:sp>
      <p:sp>
        <p:nvSpPr>
          <p:cNvPr id="24" name="">
            <a:extLst xmlns:a="http://schemas.openxmlformats.org/drawingml/2006/main">
              <a:ext uri="{FF2B5EF4-FFF2-40B4-BE49-F238E27FC236}">
                <a16:creationId xmlns:a16="http://schemas.microsoft.com/office/drawing/2014/main" id="{465F1AD1-098D-41F5-B100-790D3A148938}"/>
              </a:ext>
            </a:extLst>
          </p:cNvPr>
          <p:cNvSpPr>
            <a:spLocks xmlns:a="http://schemas.openxmlformats.org/drawingml/2006/main" noGrp="1"/>
          </p:cNvSpPr>
          <p:nvPr/>
        </p:nvSpPr>
        <p:spPr>
          <a:xfrm xmlns:a="http://schemas.openxmlformats.org/drawingml/2006/main">
            <a:off x="1047750" y="4953000"/>
            <a:ext cx="1009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4F7F8"/>
                </a:solidFill>
              </a:defRPr>
            </a:defPPr>
            <a:lvl1pPr>
              <a:defRPr sz="1650" b="1">
                <a:solidFill>
                  <a:srgbClr val="F4F7F8"/>
                </a:solidFill>
              </a:defRPr>
            </a:lvl1pPr>
            <a:lvl2pPr>
              <a:defRPr sz="1650" b="1">
                <a:solidFill>
                  <a:srgbClr val="F4F7F8"/>
                </a:solidFill>
              </a:defRPr>
            </a:lvl2pPr>
            <a:lvl3pPr>
              <a:defRPr sz="1650" b="1">
                <a:solidFill>
                  <a:srgbClr val="F4F7F8"/>
                </a:solidFill>
              </a:defRPr>
            </a:lvl3pPr>
            <a:lvl4pPr>
              <a:defRPr sz="1650" b="1">
                <a:solidFill>
                  <a:srgbClr val="F4F7F8"/>
                </a:solidFill>
              </a:defRPr>
            </a:lvl4pPr>
            <a:lvl5pPr>
              <a:defRPr sz="1650" b="1">
                <a:solidFill>
                  <a:srgbClr val="F4F7F8"/>
                </a:solidFill>
              </a:defRPr>
            </a:lvl5pPr>
            <a:lvl6pPr>
              <a:defRPr sz="1650" b="1">
                <a:solidFill>
                  <a:srgbClr val="F4F7F8"/>
                </a:solidFill>
              </a:defRPr>
            </a:lvl6pPr>
            <a:lvl7pPr>
              <a:defRPr sz="1650" b="1">
                <a:solidFill>
                  <a:srgbClr val="F4F7F8"/>
                </a:solidFill>
              </a:defRPr>
            </a:lvl7pPr>
            <a:lvl8pPr>
              <a:defRPr sz="1650" b="1">
                <a:solidFill>
                  <a:srgbClr val="F4F7F8"/>
                </a:solidFill>
              </a:defRPr>
            </a:lvl8pPr>
            <a:lvl9pPr>
              <a:defRPr sz="1650" b="1">
                <a:solidFill>
                  <a:srgbClr val="F4F7F8"/>
                </a:solidFill>
              </a:defRPr>
            </a:lvl9pPr>
          </a:lstStyle>
          <a:p xmlns:a="http://schemas.openxmlformats.org/drawingml/2006/main">
            <a:pPr>
              <a:defRPr sz="1650" b="1">
                <a:solidFill>
                  <a:srgbClr val="F4F7F8"/>
                </a:solidFill>
              </a:defRPr>
            </a:pPr>
            <a:r>
              <a:rPr sz="1650" b="1">
                <a:solidFill>
                  <a:srgbClr val="F4F7F8"/>
                </a:solidFill>
              </a:rPr>
              <a:t>Browser dashboard  →  FastAPI diagnosis endpoint  →  results</a:t>
            </a:r>
          </a:p>
        </p:txBody>
      </p:sp>
    </p:spTree>
    <p:extLst>
      <p:ext uri="{BB962C8B-B14F-4D97-AF65-F5344CB8AC3E}">
        <p14:creationId xmlns:p14="http://schemas.microsoft.com/office/powerpoint/2010/main" val="1524490794"/>
      </p:ext>
    </p:extLst>
  </p:cSld>
</p:sld>
</file>

<file path=ppt/slides/slide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3B60475-CADE-4DD8-9B15-D8F2F738D4A8}"/>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CA1CEC05-BF25-48D1-B176-8E6E99FBA3E1}"/>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Detection and recovery</a:t>
            </a:r>
          </a:p>
        </p:txBody>
      </p:sp>
      <p:sp>
        <p:nvSpPr>
          <p:cNvPr id="3" name="">
            <a:extLst xmlns:a="http://schemas.openxmlformats.org/drawingml/2006/main">
              <a:ext uri="{FF2B5EF4-FFF2-40B4-BE49-F238E27FC236}">
                <a16:creationId xmlns:a16="http://schemas.microsoft.com/office/drawing/2014/main" id="{CAB91E99-81D4-46EF-9E81-46EFBBE10EB1}"/>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A03BE18-E800-4752-B065-98D5E0BDE312}"/>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CAB4B4D0-EB8E-4DBB-A79F-464524350505}"/>
              </a:ext>
            </a:extLst>
          </p:cNvPr>
          <p:cNvSpPr>
            <a:spLocks xmlns:a="http://schemas.openxmlformats.org/drawingml/2006/main" noGrp="1"/>
          </p:cNvSpPr>
          <p:nvPr/>
        </p:nvSpPr>
        <p:spPr>
          <a:xfrm xmlns:a="http://schemas.openxmlformats.org/drawingml/2006/main">
            <a:off x="800100" y="1714500"/>
            <a:ext cx="4810125" cy="3524250"/>
          </a:xfrm>
          <a:prstGeom xmlns:a="http://schemas.openxmlformats.org/drawingml/2006/main" prst="roundRect">
            <a:avLst>
              <a:gd name="adj" fmla="val 2162"/>
            </a:avLst>
          </a:prstGeom>
          <a:solidFill xmlns:a="http://schemas.openxmlformats.org/drawingml/2006/main">
            <a:srgbClr val="10243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17810D0-C5AE-41E2-8426-79E43D68381E}"/>
              </a:ext>
            </a:extLst>
          </p:cNvPr>
          <p:cNvSpPr>
            <a:spLocks xmlns:a="http://schemas.openxmlformats.org/drawingml/2006/main" noGrp="1"/>
          </p:cNvSpPr>
          <p:nvPr/>
        </p:nvSpPr>
        <p:spPr>
          <a:xfrm xmlns:a="http://schemas.openxmlformats.org/drawingml/2006/main">
            <a:off x="1104900" y="19812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65D6D1"/>
                </a:solidFill>
              </a:defRPr>
            </a:defPPr>
            <a:lvl1pPr>
              <a:defRPr sz="1125" b="1">
                <a:solidFill>
                  <a:srgbClr val="65D6D1"/>
                </a:solidFill>
              </a:defRPr>
            </a:lvl1pPr>
            <a:lvl2pPr>
              <a:defRPr sz="1125" b="1">
                <a:solidFill>
                  <a:srgbClr val="65D6D1"/>
                </a:solidFill>
              </a:defRPr>
            </a:lvl2pPr>
            <a:lvl3pPr>
              <a:defRPr sz="1125" b="1">
                <a:solidFill>
                  <a:srgbClr val="65D6D1"/>
                </a:solidFill>
              </a:defRPr>
            </a:lvl3pPr>
            <a:lvl4pPr>
              <a:defRPr sz="1125" b="1">
                <a:solidFill>
                  <a:srgbClr val="65D6D1"/>
                </a:solidFill>
              </a:defRPr>
            </a:lvl4pPr>
            <a:lvl5pPr>
              <a:defRPr sz="1125" b="1">
                <a:solidFill>
                  <a:srgbClr val="65D6D1"/>
                </a:solidFill>
              </a:defRPr>
            </a:lvl5pPr>
            <a:lvl6pPr>
              <a:defRPr sz="1125" b="1">
                <a:solidFill>
                  <a:srgbClr val="65D6D1"/>
                </a:solidFill>
              </a:defRPr>
            </a:lvl6pPr>
            <a:lvl7pPr>
              <a:defRPr sz="1125" b="1">
                <a:solidFill>
                  <a:srgbClr val="65D6D1"/>
                </a:solidFill>
              </a:defRPr>
            </a:lvl7pPr>
            <a:lvl8pPr>
              <a:defRPr sz="1125" b="1">
                <a:solidFill>
                  <a:srgbClr val="65D6D1"/>
                </a:solidFill>
              </a:defRPr>
            </a:lvl8pPr>
            <a:lvl9pPr>
              <a:defRPr sz="1125" b="1">
                <a:solidFill>
                  <a:srgbClr val="65D6D1"/>
                </a:solidFill>
              </a:defRPr>
            </a:lvl9pPr>
          </a:lstStyle>
          <a:p xmlns:a="http://schemas.openxmlformats.org/drawingml/2006/main">
            <a:pPr>
              <a:defRPr sz="1125" b="1">
                <a:solidFill>
                  <a:srgbClr val="65D6D1"/>
                </a:solidFill>
              </a:defRPr>
            </a:pPr>
            <a:r>
              <a:rPr sz="1125" b="1">
                <a:solidFill>
                  <a:srgbClr val="65D6D1"/>
                </a:solidFill>
              </a:rPr>
              <a:t>DETECTION</a:t>
            </a:r>
          </a:p>
        </p:txBody>
      </p:sp>
      <p:sp>
        <p:nvSpPr>
          <p:cNvPr id="7" name="">
            <a:extLst xmlns:a="http://schemas.openxmlformats.org/drawingml/2006/main">
              <a:ext uri="{FF2B5EF4-FFF2-40B4-BE49-F238E27FC236}">
                <a16:creationId xmlns:a16="http://schemas.microsoft.com/office/drawing/2014/main" id="{9EAD0229-588E-4A8E-9306-B4DBA9427465}"/>
              </a:ext>
            </a:extLst>
          </p:cNvPr>
          <p:cNvSpPr>
            <a:spLocks xmlns:a="http://schemas.openxmlformats.org/drawingml/2006/main" noGrp="1"/>
          </p:cNvSpPr>
          <p:nvPr/>
        </p:nvSpPr>
        <p:spPr>
          <a:xfrm xmlns:a="http://schemas.openxmlformats.org/drawingml/2006/main">
            <a:off x="1104900" y="24765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65D6D1"/>
                </a:solidFill>
              </a:defRPr>
            </a:defPPr>
            <a:lvl1pPr>
              <a:defRPr sz="1500" b="1">
                <a:solidFill>
                  <a:srgbClr val="65D6D1"/>
                </a:solidFill>
              </a:defRPr>
            </a:lvl1pPr>
            <a:lvl2pPr>
              <a:defRPr sz="1500" b="1">
                <a:solidFill>
                  <a:srgbClr val="65D6D1"/>
                </a:solidFill>
              </a:defRPr>
            </a:lvl2pPr>
            <a:lvl3pPr>
              <a:defRPr sz="1500" b="1">
                <a:solidFill>
                  <a:srgbClr val="65D6D1"/>
                </a:solidFill>
              </a:defRPr>
            </a:lvl3pPr>
            <a:lvl4pPr>
              <a:defRPr sz="1500" b="1">
                <a:solidFill>
                  <a:srgbClr val="65D6D1"/>
                </a:solidFill>
              </a:defRPr>
            </a:lvl4pPr>
            <a:lvl5pPr>
              <a:defRPr sz="1500" b="1">
                <a:solidFill>
                  <a:srgbClr val="65D6D1"/>
                </a:solidFill>
              </a:defRPr>
            </a:lvl5pPr>
            <a:lvl6pPr>
              <a:defRPr sz="1500" b="1">
                <a:solidFill>
                  <a:srgbClr val="65D6D1"/>
                </a:solidFill>
              </a:defRPr>
            </a:lvl6pPr>
            <a:lvl7pPr>
              <a:defRPr sz="1500" b="1">
                <a:solidFill>
                  <a:srgbClr val="65D6D1"/>
                </a:solidFill>
              </a:defRPr>
            </a:lvl7pPr>
            <a:lvl8pPr>
              <a:defRPr sz="1500" b="1">
                <a:solidFill>
                  <a:srgbClr val="65D6D1"/>
                </a:solidFill>
              </a:defRPr>
            </a:lvl8pPr>
            <a:lvl9pPr>
              <a:defRPr sz="1500" b="1">
                <a:solidFill>
                  <a:srgbClr val="65D6D1"/>
                </a:solidFill>
              </a:defRPr>
            </a:lvl9pPr>
          </a:lstStyle>
          <a:p xmlns:a="http://schemas.openxmlformats.org/drawingml/2006/main">
            <a:pPr>
              <a:defRPr sz="1500" b="1">
                <a:solidFill>
                  <a:srgbClr val="65D6D1"/>
                </a:solidFill>
              </a:defRPr>
            </a:pPr>
            <a:r>
              <a:rPr sz="1500" b="1">
                <a:solidFill>
                  <a:srgbClr val="65D6D1"/>
                </a:solidFill>
              </a:rPr>
              <a:t>•</a:t>
            </a:r>
          </a:p>
        </p:txBody>
      </p:sp>
      <p:sp>
        <p:nvSpPr>
          <p:cNvPr id="8" name="">
            <a:extLst xmlns:a="http://schemas.openxmlformats.org/drawingml/2006/main">
              <a:ext uri="{FF2B5EF4-FFF2-40B4-BE49-F238E27FC236}">
                <a16:creationId xmlns:a16="http://schemas.microsoft.com/office/drawing/2014/main" id="{D4548BB4-C49F-4162-8A0C-1E8846E51BB0}"/>
              </a:ext>
            </a:extLst>
          </p:cNvPr>
          <p:cNvSpPr>
            <a:spLocks xmlns:a="http://schemas.openxmlformats.org/drawingml/2006/main" noGrp="1"/>
          </p:cNvSpPr>
          <p:nvPr/>
        </p:nvSpPr>
        <p:spPr>
          <a:xfrm xmlns:a="http://schemas.openxmlformats.org/drawingml/2006/main">
            <a:off x="1390650" y="24765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LSTM autoencoder reconstructs the telemetry sequence.</a:t>
            </a:r>
          </a:p>
        </p:txBody>
      </p:sp>
      <p:sp>
        <p:nvSpPr>
          <p:cNvPr id="9" name="">
            <a:extLst xmlns:a="http://schemas.openxmlformats.org/drawingml/2006/main">
              <a:ext uri="{FF2B5EF4-FFF2-40B4-BE49-F238E27FC236}">
                <a16:creationId xmlns:a16="http://schemas.microsoft.com/office/drawing/2014/main" id="{BF72468B-DEDC-44DE-ACA4-DCF50D6D0B2F}"/>
              </a:ext>
            </a:extLst>
          </p:cNvPr>
          <p:cNvSpPr>
            <a:spLocks xmlns:a="http://schemas.openxmlformats.org/drawingml/2006/main" noGrp="1"/>
          </p:cNvSpPr>
          <p:nvPr/>
        </p:nvSpPr>
        <p:spPr>
          <a:xfrm xmlns:a="http://schemas.openxmlformats.org/drawingml/2006/main">
            <a:off x="1104900" y="32194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65D6D1"/>
                </a:solidFill>
              </a:defRPr>
            </a:defPPr>
            <a:lvl1pPr>
              <a:defRPr sz="1500" b="1">
                <a:solidFill>
                  <a:srgbClr val="65D6D1"/>
                </a:solidFill>
              </a:defRPr>
            </a:lvl1pPr>
            <a:lvl2pPr>
              <a:defRPr sz="1500" b="1">
                <a:solidFill>
                  <a:srgbClr val="65D6D1"/>
                </a:solidFill>
              </a:defRPr>
            </a:lvl2pPr>
            <a:lvl3pPr>
              <a:defRPr sz="1500" b="1">
                <a:solidFill>
                  <a:srgbClr val="65D6D1"/>
                </a:solidFill>
              </a:defRPr>
            </a:lvl3pPr>
            <a:lvl4pPr>
              <a:defRPr sz="1500" b="1">
                <a:solidFill>
                  <a:srgbClr val="65D6D1"/>
                </a:solidFill>
              </a:defRPr>
            </a:lvl4pPr>
            <a:lvl5pPr>
              <a:defRPr sz="1500" b="1">
                <a:solidFill>
                  <a:srgbClr val="65D6D1"/>
                </a:solidFill>
              </a:defRPr>
            </a:lvl5pPr>
            <a:lvl6pPr>
              <a:defRPr sz="1500" b="1">
                <a:solidFill>
                  <a:srgbClr val="65D6D1"/>
                </a:solidFill>
              </a:defRPr>
            </a:lvl6pPr>
            <a:lvl7pPr>
              <a:defRPr sz="1500" b="1">
                <a:solidFill>
                  <a:srgbClr val="65D6D1"/>
                </a:solidFill>
              </a:defRPr>
            </a:lvl7pPr>
            <a:lvl8pPr>
              <a:defRPr sz="1500" b="1">
                <a:solidFill>
                  <a:srgbClr val="65D6D1"/>
                </a:solidFill>
              </a:defRPr>
            </a:lvl8pPr>
            <a:lvl9pPr>
              <a:defRPr sz="1500" b="1">
                <a:solidFill>
                  <a:srgbClr val="65D6D1"/>
                </a:solidFill>
              </a:defRPr>
            </a:lvl9pPr>
          </a:lstStyle>
          <a:p xmlns:a="http://schemas.openxmlformats.org/drawingml/2006/main">
            <a:pPr>
              <a:defRPr sz="1500" b="1">
                <a:solidFill>
                  <a:srgbClr val="65D6D1"/>
                </a:solidFill>
              </a:defRPr>
            </a:pPr>
            <a:r>
              <a:rPr sz="1500" b="1">
                <a:solidFill>
                  <a:srgbClr val="65D6D1"/>
                </a:solidFill>
              </a:rPr>
              <a:t>•</a:t>
            </a:r>
          </a:p>
        </p:txBody>
      </p:sp>
      <p:sp>
        <p:nvSpPr>
          <p:cNvPr id="10" name="">
            <a:extLst xmlns:a="http://schemas.openxmlformats.org/drawingml/2006/main">
              <a:ext uri="{FF2B5EF4-FFF2-40B4-BE49-F238E27FC236}">
                <a16:creationId xmlns:a16="http://schemas.microsoft.com/office/drawing/2014/main" id="{89D4FF0D-5DD9-4662-9FFE-CDB13B194FA6}"/>
              </a:ext>
            </a:extLst>
          </p:cNvPr>
          <p:cNvSpPr>
            <a:spLocks xmlns:a="http://schemas.openxmlformats.org/drawingml/2006/main" noGrp="1"/>
          </p:cNvSpPr>
          <p:nvPr/>
        </p:nvSpPr>
        <p:spPr>
          <a:xfrm xmlns:a="http://schemas.openxmlformats.org/drawingml/2006/main">
            <a:off x="1390650" y="32194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Reconstruction error is compared with a configured threshold.</a:t>
            </a:r>
          </a:p>
        </p:txBody>
      </p:sp>
      <p:sp>
        <p:nvSpPr>
          <p:cNvPr id="11" name="">
            <a:extLst xmlns:a="http://schemas.openxmlformats.org/drawingml/2006/main">
              <a:ext uri="{FF2B5EF4-FFF2-40B4-BE49-F238E27FC236}">
                <a16:creationId xmlns:a16="http://schemas.microsoft.com/office/drawing/2014/main" id="{DFDC51E2-5247-4298-A617-E0D9BDC2F523}"/>
              </a:ext>
            </a:extLst>
          </p:cNvPr>
          <p:cNvSpPr>
            <a:spLocks xmlns:a="http://schemas.openxmlformats.org/drawingml/2006/main" noGrp="1"/>
          </p:cNvSpPr>
          <p:nvPr/>
        </p:nvSpPr>
        <p:spPr>
          <a:xfrm xmlns:a="http://schemas.openxmlformats.org/drawingml/2006/main">
            <a:off x="1104900" y="39624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65D6D1"/>
                </a:solidFill>
              </a:defRPr>
            </a:defPPr>
            <a:lvl1pPr>
              <a:defRPr sz="1500" b="1">
                <a:solidFill>
                  <a:srgbClr val="65D6D1"/>
                </a:solidFill>
              </a:defRPr>
            </a:lvl1pPr>
            <a:lvl2pPr>
              <a:defRPr sz="1500" b="1">
                <a:solidFill>
                  <a:srgbClr val="65D6D1"/>
                </a:solidFill>
              </a:defRPr>
            </a:lvl2pPr>
            <a:lvl3pPr>
              <a:defRPr sz="1500" b="1">
                <a:solidFill>
                  <a:srgbClr val="65D6D1"/>
                </a:solidFill>
              </a:defRPr>
            </a:lvl3pPr>
            <a:lvl4pPr>
              <a:defRPr sz="1500" b="1">
                <a:solidFill>
                  <a:srgbClr val="65D6D1"/>
                </a:solidFill>
              </a:defRPr>
            </a:lvl4pPr>
            <a:lvl5pPr>
              <a:defRPr sz="1500" b="1">
                <a:solidFill>
                  <a:srgbClr val="65D6D1"/>
                </a:solidFill>
              </a:defRPr>
            </a:lvl5pPr>
            <a:lvl6pPr>
              <a:defRPr sz="1500" b="1">
                <a:solidFill>
                  <a:srgbClr val="65D6D1"/>
                </a:solidFill>
              </a:defRPr>
            </a:lvl6pPr>
            <a:lvl7pPr>
              <a:defRPr sz="1500" b="1">
                <a:solidFill>
                  <a:srgbClr val="65D6D1"/>
                </a:solidFill>
              </a:defRPr>
            </a:lvl7pPr>
            <a:lvl8pPr>
              <a:defRPr sz="1500" b="1">
                <a:solidFill>
                  <a:srgbClr val="65D6D1"/>
                </a:solidFill>
              </a:defRPr>
            </a:lvl8pPr>
            <a:lvl9pPr>
              <a:defRPr sz="1500" b="1">
                <a:solidFill>
                  <a:srgbClr val="65D6D1"/>
                </a:solidFill>
              </a:defRPr>
            </a:lvl9pPr>
          </a:lstStyle>
          <a:p xmlns:a="http://schemas.openxmlformats.org/drawingml/2006/main">
            <a:pPr>
              <a:defRPr sz="1500" b="1">
                <a:solidFill>
                  <a:srgbClr val="65D6D1"/>
                </a:solidFill>
              </a:defRPr>
            </a:pPr>
            <a:r>
              <a:rPr sz="1500" b="1">
                <a:solidFill>
                  <a:srgbClr val="65D6D1"/>
                </a:solidFill>
              </a:rPr>
              <a:t>•</a:t>
            </a:r>
          </a:p>
        </p:txBody>
      </p:sp>
      <p:sp>
        <p:nvSpPr>
          <p:cNvPr id="12" name="">
            <a:extLst xmlns:a="http://schemas.openxmlformats.org/drawingml/2006/main">
              <a:ext uri="{FF2B5EF4-FFF2-40B4-BE49-F238E27FC236}">
                <a16:creationId xmlns:a16="http://schemas.microsoft.com/office/drawing/2014/main" id="{5EC38935-1F02-4C2E-8FDA-C030ADDF53BD}"/>
              </a:ext>
            </a:extLst>
          </p:cNvPr>
          <p:cNvSpPr>
            <a:spLocks xmlns:a="http://schemas.openxmlformats.org/drawingml/2006/main" noGrp="1"/>
          </p:cNvSpPr>
          <p:nvPr/>
        </p:nvSpPr>
        <p:spPr>
          <a:xfrm xmlns:a="http://schemas.openxmlformats.org/drawingml/2006/main">
            <a:off x="1390650" y="39624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Rules check flatlines, pressure jumps, and storm-like changes.</a:t>
            </a:r>
          </a:p>
        </p:txBody>
      </p:sp>
      <p:sp>
        <p:nvSpPr>
          <p:cNvPr id="13" name="">
            <a:extLst xmlns:a="http://schemas.openxmlformats.org/drawingml/2006/main">
              <a:ext uri="{FF2B5EF4-FFF2-40B4-BE49-F238E27FC236}">
                <a16:creationId xmlns:a16="http://schemas.microsoft.com/office/drawing/2014/main" id="{BEC746B8-4C65-4002-9C8E-0BD50EC05EAF}"/>
              </a:ext>
            </a:extLst>
          </p:cNvPr>
          <p:cNvSpPr>
            <a:spLocks xmlns:a="http://schemas.openxmlformats.org/drawingml/2006/main" noGrp="1"/>
          </p:cNvSpPr>
          <p:nvPr/>
        </p:nvSpPr>
        <p:spPr>
          <a:xfrm xmlns:a="http://schemas.openxmlformats.org/drawingml/2006/main">
            <a:off x="6191250" y="1714500"/>
            <a:ext cx="4810125" cy="3524250"/>
          </a:xfrm>
          <a:prstGeom xmlns:a="http://schemas.openxmlformats.org/drawingml/2006/main" prst="roundRect">
            <a:avLst>
              <a:gd name="adj" fmla="val 2162"/>
            </a:avLst>
          </a:prstGeom>
          <a:solidFill xmlns:a="http://schemas.openxmlformats.org/drawingml/2006/main">
            <a:srgbClr val="10243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1C3731C-DE40-4DDF-B1DE-09EA31E52259}"/>
              </a:ext>
            </a:extLst>
          </p:cNvPr>
          <p:cNvSpPr>
            <a:spLocks xmlns:a="http://schemas.openxmlformats.org/drawingml/2006/main" noGrp="1"/>
          </p:cNvSpPr>
          <p:nvPr/>
        </p:nvSpPr>
        <p:spPr>
          <a:xfrm xmlns:a="http://schemas.openxmlformats.org/drawingml/2006/main">
            <a:off x="6496050" y="19812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F3BB63"/>
                </a:solidFill>
              </a:defRPr>
            </a:defPPr>
            <a:lvl1pPr>
              <a:defRPr sz="1125" b="1">
                <a:solidFill>
                  <a:srgbClr val="F3BB63"/>
                </a:solidFill>
              </a:defRPr>
            </a:lvl1pPr>
            <a:lvl2pPr>
              <a:defRPr sz="1125" b="1">
                <a:solidFill>
                  <a:srgbClr val="F3BB63"/>
                </a:solidFill>
              </a:defRPr>
            </a:lvl2pPr>
            <a:lvl3pPr>
              <a:defRPr sz="1125" b="1">
                <a:solidFill>
                  <a:srgbClr val="F3BB63"/>
                </a:solidFill>
              </a:defRPr>
            </a:lvl3pPr>
            <a:lvl4pPr>
              <a:defRPr sz="1125" b="1">
                <a:solidFill>
                  <a:srgbClr val="F3BB63"/>
                </a:solidFill>
              </a:defRPr>
            </a:lvl4pPr>
            <a:lvl5pPr>
              <a:defRPr sz="1125" b="1">
                <a:solidFill>
                  <a:srgbClr val="F3BB63"/>
                </a:solidFill>
              </a:defRPr>
            </a:lvl5pPr>
            <a:lvl6pPr>
              <a:defRPr sz="1125" b="1">
                <a:solidFill>
                  <a:srgbClr val="F3BB63"/>
                </a:solidFill>
              </a:defRPr>
            </a:lvl6pPr>
            <a:lvl7pPr>
              <a:defRPr sz="1125" b="1">
                <a:solidFill>
                  <a:srgbClr val="F3BB63"/>
                </a:solidFill>
              </a:defRPr>
            </a:lvl7pPr>
            <a:lvl8pPr>
              <a:defRPr sz="1125" b="1">
                <a:solidFill>
                  <a:srgbClr val="F3BB63"/>
                </a:solidFill>
              </a:defRPr>
            </a:lvl8pPr>
            <a:lvl9pPr>
              <a:defRPr sz="1125" b="1">
                <a:solidFill>
                  <a:srgbClr val="F3BB63"/>
                </a:solidFill>
              </a:defRPr>
            </a:lvl9pPr>
          </a:lstStyle>
          <a:p xmlns:a="http://schemas.openxmlformats.org/drawingml/2006/main">
            <a:pPr>
              <a:defRPr sz="1125" b="1">
                <a:solidFill>
                  <a:srgbClr val="F3BB63"/>
                </a:solidFill>
              </a:defRPr>
            </a:pPr>
            <a:r>
              <a:rPr sz="1125" b="1">
                <a:solidFill>
                  <a:srgbClr val="F3BB63"/>
                </a:solidFill>
              </a:rPr>
              <a:t>RECOVERY</a:t>
            </a:r>
          </a:p>
        </p:txBody>
      </p:sp>
      <p:sp>
        <p:nvSpPr>
          <p:cNvPr id="15" name="">
            <a:extLst xmlns:a="http://schemas.openxmlformats.org/drawingml/2006/main">
              <a:ext uri="{FF2B5EF4-FFF2-40B4-BE49-F238E27FC236}">
                <a16:creationId xmlns:a16="http://schemas.microsoft.com/office/drawing/2014/main" id="{6A011408-0EA9-412B-8873-711F7D19F319}"/>
              </a:ext>
            </a:extLst>
          </p:cNvPr>
          <p:cNvSpPr>
            <a:spLocks xmlns:a="http://schemas.openxmlformats.org/drawingml/2006/main" noGrp="1"/>
          </p:cNvSpPr>
          <p:nvPr/>
        </p:nvSpPr>
        <p:spPr>
          <a:xfrm xmlns:a="http://schemas.openxmlformats.org/drawingml/2006/main">
            <a:off x="6496050" y="24765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65D6D1"/>
                </a:solidFill>
              </a:defRPr>
            </a:defPPr>
            <a:lvl1pPr>
              <a:defRPr sz="1500" b="1">
                <a:solidFill>
                  <a:srgbClr val="65D6D1"/>
                </a:solidFill>
              </a:defRPr>
            </a:lvl1pPr>
            <a:lvl2pPr>
              <a:defRPr sz="1500" b="1">
                <a:solidFill>
                  <a:srgbClr val="65D6D1"/>
                </a:solidFill>
              </a:defRPr>
            </a:lvl2pPr>
            <a:lvl3pPr>
              <a:defRPr sz="1500" b="1">
                <a:solidFill>
                  <a:srgbClr val="65D6D1"/>
                </a:solidFill>
              </a:defRPr>
            </a:lvl3pPr>
            <a:lvl4pPr>
              <a:defRPr sz="1500" b="1">
                <a:solidFill>
                  <a:srgbClr val="65D6D1"/>
                </a:solidFill>
              </a:defRPr>
            </a:lvl4pPr>
            <a:lvl5pPr>
              <a:defRPr sz="1500" b="1">
                <a:solidFill>
                  <a:srgbClr val="65D6D1"/>
                </a:solidFill>
              </a:defRPr>
            </a:lvl5pPr>
            <a:lvl6pPr>
              <a:defRPr sz="1500" b="1">
                <a:solidFill>
                  <a:srgbClr val="65D6D1"/>
                </a:solidFill>
              </a:defRPr>
            </a:lvl6pPr>
            <a:lvl7pPr>
              <a:defRPr sz="1500" b="1">
                <a:solidFill>
                  <a:srgbClr val="65D6D1"/>
                </a:solidFill>
              </a:defRPr>
            </a:lvl7pPr>
            <a:lvl8pPr>
              <a:defRPr sz="1500" b="1">
                <a:solidFill>
                  <a:srgbClr val="65D6D1"/>
                </a:solidFill>
              </a:defRPr>
            </a:lvl8pPr>
            <a:lvl9pPr>
              <a:defRPr sz="1500" b="1">
                <a:solidFill>
                  <a:srgbClr val="65D6D1"/>
                </a:solidFill>
              </a:defRPr>
            </a:lvl9pPr>
          </a:lstStyle>
          <a:p xmlns:a="http://schemas.openxmlformats.org/drawingml/2006/main">
            <a:pPr>
              <a:defRPr sz="1500" b="1">
                <a:solidFill>
                  <a:srgbClr val="65D6D1"/>
                </a:solidFill>
              </a:defRPr>
            </a:pPr>
            <a:r>
              <a:rPr sz="1500" b="1">
                <a:solidFill>
                  <a:srgbClr val="65D6D1"/>
                </a:solidFill>
              </a:rPr>
              <a:t>•</a:t>
            </a:r>
          </a:p>
        </p:txBody>
      </p:sp>
      <p:sp>
        <p:nvSpPr>
          <p:cNvPr id="16" name="">
            <a:extLst xmlns:a="http://schemas.openxmlformats.org/drawingml/2006/main">
              <a:ext uri="{FF2B5EF4-FFF2-40B4-BE49-F238E27FC236}">
                <a16:creationId xmlns:a16="http://schemas.microsoft.com/office/drawing/2014/main" id="{30110C8E-4FCD-42A5-BE3C-E3E16787283E}"/>
              </a:ext>
            </a:extLst>
          </p:cNvPr>
          <p:cNvSpPr>
            <a:spLocks xmlns:a="http://schemas.openxmlformats.org/drawingml/2006/main" noGrp="1"/>
          </p:cNvSpPr>
          <p:nvPr/>
        </p:nvSpPr>
        <p:spPr>
          <a:xfrm xmlns:a="http://schemas.openxmlformats.org/drawingml/2006/main">
            <a:off x="6781800" y="24765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Kalman filters process temperature, pressure, and humidity.</a:t>
            </a:r>
          </a:p>
        </p:txBody>
      </p:sp>
      <p:sp>
        <p:nvSpPr>
          <p:cNvPr id="17" name="">
            <a:extLst xmlns:a="http://schemas.openxmlformats.org/drawingml/2006/main">
              <a:ext uri="{FF2B5EF4-FFF2-40B4-BE49-F238E27FC236}">
                <a16:creationId xmlns:a16="http://schemas.microsoft.com/office/drawing/2014/main" id="{5182FEFD-68FB-4698-954E-8AC20CD29964}"/>
              </a:ext>
            </a:extLst>
          </p:cNvPr>
          <p:cNvSpPr>
            <a:spLocks xmlns:a="http://schemas.openxmlformats.org/drawingml/2006/main" noGrp="1"/>
          </p:cNvSpPr>
          <p:nvPr/>
        </p:nvSpPr>
        <p:spPr>
          <a:xfrm xmlns:a="http://schemas.openxmlformats.org/drawingml/2006/main">
            <a:off x="6496050" y="32194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65D6D1"/>
                </a:solidFill>
              </a:defRPr>
            </a:defPPr>
            <a:lvl1pPr>
              <a:defRPr sz="1500" b="1">
                <a:solidFill>
                  <a:srgbClr val="65D6D1"/>
                </a:solidFill>
              </a:defRPr>
            </a:lvl1pPr>
            <a:lvl2pPr>
              <a:defRPr sz="1500" b="1">
                <a:solidFill>
                  <a:srgbClr val="65D6D1"/>
                </a:solidFill>
              </a:defRPr>
            </a:lvl2pPr>
            <a:lvl3pPr>
              <a:defRPr sz="1500" b="1">
                <a:solidFill>
                  <a:srgbClr val="65D6D1"/>
                </a:solidFill>
              </a:defRPr>
            </a:lvl3pPr>
            <a:lvl4pPr>
              <a:defRPr sz="1500" b="1">
                <a:solidFill>
                  <a:srgbClr val="65D6D1"/>
                </a:solidFill>
              </a:defRPr>
            </a:lvl4pPr>
            <a:lvl5pPr>
              <a:defRPr sz="1500" b="1">
                <a:solidFill>
                  <a:srgbClr val="65D6D1"/>
                </a:solidFill>
              </a:defRPr>
            </a:lvl5pPr>
            <a:lvl6pPr>
              <a:defRPr sz="1500" b="1">
                <a:solidFill>
                  <a:srgbClr val="65D6D1"/>
                </a:solidFill>
              </a:defRPr>
            </a:lvl6pPr>
            <a:lvl7pPr>
              <a:defRPr sz="1500" b="1">
                <a:solidFill>
                  <a:srgbClr val="65D6D1"/>
                </a:solidFill>
              </a:defRPr>
            </a:lvl7pPr>
            <a:lvl8pPr>
              <a:defRPr sz="1500" b="1">
                <a:solidFill>
                  <a:srgbClr val="65D6D1"/>
                </a:solidFill>
              </a:defRPr>
            </a:lvl8pPr>
            <a:lvl9pPr>
              <a:defRPr sz="1500" b="1">
                <a:solidFill>
                  <a:srgbClr val="65D6D1"/>
                </a:solidFill>
              </a:defRPr>
            </a:lvl9pPr>
          </a:lstStyle>
          <a:p xmlns:a="http://schemas.openxmlformats.org/drawingml/2006/main">
            <a:pPr>
              <a:defRPr sz="1500" b="1">
                <a:solidFill>
                  <a:srgbClr val="65D6D1"/>
                </a:solidFill>
              </a:defRPr>
            </a:pPr>
            <a:r>
              <a:rPr sz="1500" b="1">
                <a:solidFill>
                  <a:srgbClr val="65D6D1"/>
                </a:solidFill>
              </a:rPr>
              <a:t>•</a:t>
            </a:r>
          </a:p>
        </p:txBody>
      </p:sp>
      <p:sp>
        <p:nvSpPr>
          <p:cNvPr id="18" name="">
            <a:extLst xmlns:a="http://schemas.openxmlformats.org/drawingml/2006/main">
              <a:ext uri="{FF2B5EF4-FFF2-40B4-BE49-F238E27FC236}">
                <a16:creationId xmlns:a16="http://schemas.microsoft.com/office/drawing/2014/main" id="{3E11666D-D7D1-4116-AD15-2ECAFA3E3E31}"/>
              </a:ext>
            </a:extLst>
          </p:cNvPr>
          <p:cNvSpPr>
            <a:spLocks xmlns:a="http://schemas.openxmlformats.org/drawingml/2006/main" noGrp="1"/>
          </p:cNvSpPr>
          <p:nvPr/>
        </p:nvSpPr>
        <p:spPr>
          <a:xfrm xmlns:a="http://schemas.openxmlformats.org/drawingml/2006/main">
            <a:off x="6781800" y="32194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Prior readings warm up each filter.</a:t>
            </a:r>
          </a:p>
        </p:txBody>
      </p:sp>
      <p:sp>
        <p:nvSpPr>
          <p:cNvPr id="19" name="">
            <a:extLst xmlns:a="http://schemas.openxmlformats.org/drawingml/2006/main">
              <a:ext uri="{FF2B5EF4-FFF2-40B4-BE49-F238E27FC236}">
                <a16:creationId xmlns:a16="http://schemas.microsoft.com/office/drawing/2014/main" id="{83934CCB-8486-4CD4-99F9-02552C1221D9}"/>
              </a:ext>
            </a:extLst>
          </p:cNvPr>
          <p:cNvSpPr>
            <a:spLocks xmlns:a="http://schemas.openxmlformats.org/drawingml/2006/main" noGrp="1"/>
          </p:cNvSpPr>
          <p:nvPr/>
        </p:nvSpPr>
        <p:spPr>
          <a:xfrm xmlns:a="http://schemas.openxmlformats.org/drawingml/2006/main">
            <a:off x="6496050" y="39624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65D6D1"/>
                </a:solidFill>
              </a:defRPr>
            </a:defPPr>
            <a:lvl1pPr>
              <a:defRPr sz="1500" b="1">
                <a:solidFill>
                  <a:srgbClr val="65D6D1"/>
                </a:solidFill>
              </a:defRPr>
            </a:lvl1pPr>
            <a:lvl2pPr>
              <a:defRPr sz="1500" b="1">
                <a:solidFill>
                  <a:srgbClr val="65D6D1"/>
                </a:solidFill>
              </a:defRPr>
            </a:lvl2pPr>
            <a:lvl3pPr>
              <a:defRPr sz="1500" b="1">
                <a:solidFill>
                  <a:srgbClr val="65D6D1"/>
                </a:solidFill>
              </a:defRPr>
            </a:lvl3pPr>
            <a:lvl4pPr>
              <a:defRPr sz="1500" b="1">
                <a:solidFill>
                  <a:srgbClr val="65D6D1"/>
                </a:solidFill>
              </a:defRPr>
            </a:lvl4pPr>
            <a:lvl5pPr>
              <a:defRPr sz="1500" b="1">
                <a:solidFill>
                  <a:srgbClr val="65D6D1"/>
                </a:solidFill>
              </a:defRPr>
            </a:lvl5pPr>
            <a:lvl6pPr>
              <a:defRPr sz="1500" b="1">
                <a:solidFill>
                  <a:srgbClr val="65D6D1"/>
                </a:solidFill>
              </a:defRPr>
            </a:lvl6pPr>
            <a:lvl7pPr>
              <a:defRPr sz="1500" b="1">
                <a:solidFill>
                  <a:srgbClr val="65D6D1"/>
                </a:solidFill>
              </a:defRPr>
            </a:lvl7pPr>
            <a:lvl8pPr>
              <a:defRPr sz="1500" b="1">
                <a:solidFill>
                  <a:srgbClr val="65D6D1"/>
                </a:solidFill>
              </a:defRPr>
            </a:lvl8pPr>
            <a:lvl9pPr>
              <a:defRPr sz="1500" b="1">
                <a:solidFill>
                  <a:srgbClr val="65D6D1"/>
                </a:solidFill>
              </a:defRPr>
            </a:lvl9pPr>
          </a:lstStyle>
          <a:p xmlns:a="http://schemas.openxmlformats.org/drawingml/2006/main">
            <a:pPr>
              <a:defRPr sz="1500" b="1">
                <a:solidFill>
                  <a:srgbClr val="65D6D1"/>
                </a:solidFill>
              </a:defRPr>
            </a:pPr>
            <a:r>
              <a:rPr sz="1500" b="1">
                <a:solidFill>
                  <a:srgbClr val="65D6D1"/>
                </a:solidFill>
              </a:rPr>
              <a:t>•</a:t>
            </a:r>
          </a:p>
        </p:txBody>
      </p:sp>
      <p:sp>
        <p:nvSpPr>
          <p:cNvPr id="20" name="">
            <a:extLst xmlns:a="http://schemas.openxmlformats.org/drawingml/2006/main">
              <a:ext uri="{FF2B5EF4-FFF2-40B4-BE49-F238E27FC236}">
                <a16:creationId xmlns:a16="http://schemas.microsoft.com/office/drawing/2014/main" id="{C382748D-DB5C-469C-849C-A1A1B086ED2C}"/>
              </a:ext>
            </a:extLst>
          </p:cNvPr>
          <p:cNvSpPr>
            <a:spLocks xmlns:a="http://schemas.openxmlformats.org/drawingml/2006/main" noGrp="1"/>
          </p:cNvSpPr>
          <p:nvPr/>
        </p:nvSpPr>
        <p:spPr>
          <a:xfrm xmlns:a="http://schemas.openxmlformats.org/drawingml/2006/main">
            <a:off x="6781800" y="39624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When current data is flagged, the estimate is held instead of accepting it.</a:t>
            </a:r>
          </a:p>
        </p:txBody>
      </p:sp>
      <p:sp>
        <p:nvSpPr>
          <p:cNvPr id="21" name="">
            <a:extLst xmlns:a="http://schemas.openxmlformats.org/drawingml/2006/main">
              <a:ext uri="{FF2B5EF4-FFF2-40B4-BE49-F238E27FC236}">
                <a16:creationId xmlns:a16="http://schemas.microsoft.com/office/drawing/2014/main" id="{E4337F6F-D9EA-444A-88EF-97AC906723F3}"/>
              </a:ext>
            </a:extLst>
          </p:cNvPr>
          <p:cNvSpPr>
            <a:spLocks xmlns:a="http://schemas.openxmlformats.org/drawingml/2006/main" noGrp="1"/>
          </p:cNvSpPr>
          <p:nvPr/>
        </p:nvSpPr>
        <p:spPr>
          <a:xfrm xmlns:a="http://schemas.openxmlformats.org/drawingml/2006/main">
            <a:off x="800100" y="5505450"/>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A8BBC5"/>
                </a:solidFill>
              </a:defRPr>
            </a:defPPr>
            <a:lvl1pPr>
              <a:defRPr sz="1350" b="0">
                <a:solidFill>
                  <a:srgbClr val="A8BBC5"/>
                </a:solidFill>
              </a:defRPr>
            </a:lvl1pPr>
            <a:lvl2pPr>
              <a:defRPr sz="1350" b="0">
                <a:solidFill>
                  <a:srgbClr val="A8BBC5"/>
                </a:solidFill>
              </a:defRPr>
            </a:lvl2pPr>
            <a:lvl3pPr>
              <a:defRPr sz="1350" b="0">
                <a:solidFill>
                  <a:srgbClr val="A8BBC5"/>
                </a:solidFill>
              </a:defRPr>
            </a:lvl3pPr>
            <a:lvl4pPr>
              <a:defRPr sz="1350" b="0">
                <a:solidFill>
                  <a:srgbClr val="A8BBC5"/>
                </a:solidFill>
              </a:defRPr>
            </a:lvl4pPr>
            <a:lvl5pPr>
              <a:defRPr sz="1350" b="0">
                <a:solidFill>
                  <a:srgbClr val="A8BBC5"/>
                </a:solidFill>
              </a:defRPr>
            </a:lvl5pPr>
            <a:lvl6pPr>
              <a:defRPr sz="1350" b="0">
                <a:solidFill>
                  <a:srgbClr val="A8BBC5"/>
                </a:solidFill>
              </a:defRPr>
            </a:lvl6pPr>
            <a:lvl7pPr>
              <a:defRPr sz="1350" b="0">
                <a:solidFill>
                  <a:srgbClr val="A8BBC5"/>
                </a:solidFill>
              </a:defRPr>
            </a:lvl7pPr>
            <a:lvl8pPr>
              <a:defRPr sz="1350" b="0">
                <a:solidFill>
                  <a:srgbClr val="A8BBC5"/>
                </a:solidFill>
              </a:defRPr>
            </a:lvl8pPr>
            <a:lvl9pPr>
              <a:defRPr sz="1350" b="0">
                <a:solidFill>
                  <a:srgbClr val="A8BBC5"/>
                </a:solidFill>
              </a:defRPr>
            </a:lvl9pPr>
          </a:lstStyle>
          <a:p xmlns:a="http://schemas.openxmlformats.org/drawingml/2006/main">
            <a:pPr>
              <a:defRPr sz="1350" b="0">
                <a:solidFill>
                  <a:srgbClr val="A8BBC5"/>
                </a:solidFill>
              </a:defRPr>
            </a:pPr>
            <a:r>
              <a:rPr sz="1350" b="0">
                <a:solidFill>
                  <a:srgbClr val="A8BBC5"/>
                </a:solidFill>
              </a:rPr>
              <a:t>Configured reconstruction threshold: 0.037624</a:t>
            </a:r>
          </a:p>
        </p:txBody>
      </p:sp>
    </p:spTree>
    <p:extLst>
      <p:ext uri="{BB962C8B-B14F-4D97-AF65-F5344CB8AC3E}">
        <p14:creationId xmlns:p14="http://schemas.microsoft.com/office/powerpoint/2010/main" val="1534064275"/>
      </p:ext>
    </p:extLst>
  </p:cSld>
</p:sld>
</file>

<file path=ppt/slides/slide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0B341C2-737F-4A6E-893F-73C0C381DC24}"/>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DF01B2C4-BC0E-4AB1-962F-E2D9240DB8D0}"/>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Dashboard and service</a:t>
            </a:r>
          </a:p>
        </p:txBody>
      </p:sp>
      <p:sp>
        <p:nvSpPr>
          <p:cNvPr id="3" name="">
            <a:extLst xmlns:a="http://schemas.openxmlformats.org/drawingml/2006/main">
              <a:ext uri="{FF2B5EF4-FFF2-40B4-BE49-F238E27FC236}">
                <a16:creationId xmlns:a16="http://schemas.microsoft.com/office/drawing/2014/main" id="{F5ACB1F8-6DAE-4731-8B39-19A668D9460E}"/>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2079236-61F1-47E2-B07B-CC7EB1F0DD1C}"/>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0F9F093E-A6EF-46C1-AE3E-1178E1FCC7FE}"/>
              </a:ext>
            </a:extLst>
          </p:cNvPr>
          <p:cNvSpPr>
            <a:spLocks xmlns:a="http://schemas.openxmlformats.org/drawingml/2006/main" noGrp="1"/>
          </p:cNvSpPr>
          <p:nvPr/>
        </p:nvSpPr>
        <p:spPr>
          <a:xfrm xmlns:a="http://schemas.openxmlformats.org/drawingml/2006/main">
            <a:off x="857250" y="16573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65D6D1"/>
                </a:solidFill>
              </a:defRPr>
            </a:defPPr>
            <a:lvl1pPr>
              <a:defRPr sz="1125" b="1">
                <a:solidFill>
                  <a:srgbClr val="65D6D1"/>
                </a:solidFill>
              </a:defRPr>
            </a:lvl1pPr>
            <a:lvl2pPr>
              <a:defRPr sz="1125" b="1">
                <a:solidFill>
                  <a:srgbClr val="65D6D1"/>
                </a:solidFill>
              </a:defRPr>
            </a:lvl2pPr>
            <a:lvl3pPr>
              <a:defRPr sz="1125" b="1">
                <a:solidFill>
                  <a:srgbClr val="65D6D1"/>
                </a:solidFill>
              </a:defRPr>
            </a:lvl3pPr>
            <a:lvl4pPr>
              <a:defRPr sz="1125" b="1">
                <a:solidFill>
                  <a:srgbClr val="65D6D1"/>
                </a:solidFill>
              </a:defRPr>
            </a:lvl4pPr>
            <a:lvl5pPr>
              <a:defRPr sz="1125" b="1">
                <a:solidFill>
                  <a:srgbClr val="65D6D1"/>
                </a:solidFill>
              </a:defRPr>
            </a:lvl5pPr>
            <a:lvl6pPr>
              <a:defRPr sz="1125" b="1">
                <a:solidFill>
                  <a:srgbClr val="65D6D1"/>
                </a:solidFill>
              </a:defRPr>
            </a:lvl6pPr>
            <a:lvl7pPr>
              <a:defRPr sz="1125" b="1">
                <a:solidFill>
                  <a:srgbClr val="65D6D1"/>
                </a:solidFill>
              </a:defRPr>
            </a:lvl7pPr>
            <a:lvl8pPr>
              <a:defRPr sz="1125" b="1">
                <a:solidFill>
                  <a:srgbClr val="65D6D1"/>
                </a:solidFill>
              </a:defRPr>
            </a:lvl8pPr>
            <a:lvl9pPr>
              <a:defRPr sz="1125" b="1">
                <a:solidFill>
                  <a:srgbClr val="65D6D1"/>
                </a:solidFill>
              </a:defRPr>
            </a:lvl9pPr>
          </a:lstStyle>
          <a:p xmlns:a="http://schemas.openxmlformats.org/drawingml/2006/main">
            <a:pPr>
              <a:defRPr sz="1125" b="1">
                <a:solidFill>
                  <a:srgbClr val="65D6D1"/>
                </a:solidFill>
              </a:defRPr>
            </a:pPr>
            <a:r>
              <a:rPr sz="1125" b="1">
                <a:solidFill>
                  <a:srgbClr val="65D6D1"/>
                </a:solidFill>
              </a:rPr>
              <a:t>THE WEB DASHBOARD</a:t>
            </a:r>
          </a:p>
        </p:txBody>
      </p:sp>
      <p:sp>
        <p:nvSpPr>
          <p:cNvPr id="6" name="">
            <a:extLst xmlns:a="http://schemas.openxmlformats.org/drawingml/2006/main">
              <a:ext uri="{FF2B5EF4-FFF2-40B4-BE49-F238E27FC236}">
                <a16:creationId xmlns:a16="http://schemas.microsoft.com/office/drawing/2014/main" id="{6C0F7E63-1892-4F6C-AE02-3E8D904E12D6}"/>
              </a:ext>
            </a:extLst>
          </p:cNvPr>
          <p:cNvSpPr>
            <a:spLocks xmlns:a="http://schemas.openxmlformats.org/drawingml/2006/main" noGrp="1"/>
          </p:cNvSpPr>
          <p:nvPr/>
        </p:nvSpPr>
        <p:spPr>
          <a:xfrm xmlns:a="http://schemas.openxmlformats.org/drawingml/2006/main">
            <a:off x="857250" y="21526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7" name="">
            <a:extLst xmlns:a="http://schemas.openxmlformats.org/drawingml/2006/main">
              <a:ext uri="{FF2B5EF4-FFF2-40B4-BE49-F238E27FC236}">
                <a16:creationId xmlns:a16="http://schemas.microsoft.com/office/drawing/2014/main" id="{0389CF3B-9E1F-4A04-883B-FD033112F676}"/>
              </a:ext>
            </a:extLst>
          </p:cNvPr>
          <p:cNvSpPr>
            <a:spLocks xmlns:a="http://schemas.openxmlformats.org/drawingml/2006/main" noGrp="1"/>
          </p:cNvSpPr>
          <p:nvPr/>
        </p:nvSpPr>
        <p:spPr>
          <a:xfrm xmlns:a="http://schemas.openxmlformats.org/drawingml/2006/main">
            <a:off x="1143000" y="21526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Shows service/model readiness and diagnosis results.</a:t>
            </a:r>
          </a:p>
        </p:txBody>
      </p:sp>
      <p:sp>
        <p:nvSpPr>
          <p:cNvPr id="8" name="">
            <a:extLst xmlns:a="http://schemas.openxmlformats.org/drawingml/2006/main">
              <a:ext uri="{FF2B5EF4-FFF2-40B4-BE49-F238E27FC236}">
                <a16:creationId xmlns:a16="http://schemas.microsoft.com/office/drawing/2014/main" id="{CFD50D38-340B-4BA2-BB99-35D5F3EF6632}"/>
              </a:ext>
            </a:extLst>
          </p:cNvPr>
          <p:cNvSpPr>
            <a:spLocks xmlns:a="http://schemas.openxmlformats.org/drawingml/2006/main" noGrp="1"/>
          </p:cNvSpPr>
          <p:nvPr/>
        </p:nvSpPr>
        <p:spPr>
          <a:xfrm xmlns:a="http://schemas.openxmlformats.org/drawingml/2006/main">
            <a:off x="857250" y="28194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9" name="">
            <a:extLst xmlns:a="http://schemas.openxmlformats.org/drawingml/2006/main">
              <a:ext uri="{FF2B5EF4-FFF2-40B4-BE49-F238E27FC236}">
                <a16:creationId xmlns:a16="http://schemas.microsoft.com/office/drawing/2014/main" id="{ED987525-893F-4C78-9E5D-8F1C5AE813B6}"/>
              </a:ext>
            </a:extLst>
          </p:cNvPr>
          <p:cNvSpPr>
            <a:spLocks xmlns:a="http://schemas.openxmlformats.org/drawingml/2006/main" noGrp="1"/>
          </p:cNvSpPr>
          <p:nvPr/>
        </p:nvSpPr>
        <p:spPr>
          <a:xfrm xmlns:a="http://schemas.openxmlformats.org/drawingml/2006/main">
            <a:off x="1143000" y="28194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Loads sample values or hourly Open-Meteo estimates.</a:t>
            </a:r>
          </a:p>
        </p:txBody>
      </p:sp>
      <p:sp>
        <p:nvSpPr>
          <p:cNvPr id="10" name="">
            <a:extLst xmlns:a="http://schemas.openxmlformats.org/drawingml/2006/main">
              <a:ext uri="{FF2B5EF4-FFF2-40B4-BE49-F238E27FC236}">
                <a16:creationId xmlns:a16="http://schemas.microsoft.com/office/drawing/2014/main" id="{C3FD114A-64E8-44F7-9614-5908522D393B}"/>
              </a:ext>
            </a:extLst>
          </p:cNvPr>
          <p:cNvSpPr>
            <a:spLocks xmlns:a="http://schemas.openxmlformats.org/drawingml/2006/main" noGrp="1"/>
          </p:cNvSpPr>
          <p:nvPr/>
        </p:nvSpPr>
        <p:spPr>
          <a:xfrm xmlns:a="http://schemas.openxmlformats.org/drawingml/2006/main">
            <a:off x="857250" y="34861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1" name="">
            <a:extLst xmlns:a="http://schemas.openxmlformats.org/drawingml/2006/main">
              <a:ext uri="{FF2B5EF4-FFF2-40B4-BE49-F238E27FC236}">
                <a16:creationId xmlns:a16="http://schemas.microsoft.com/office/drawing/2014/main" id="{DE3D3FBC-81DB-4F87-88D2-BFF9B15F7787}"/>
              </a:ext>
            </a:extLst>
          </p:cNvPr>
          <p:cNvSpPr>
            <a:spLocks xmlns:a="http://schemas.openxmlformats.org/drawingml/2006/main" noGrp="1"/>
          </p:cNvSpPr>
          <p:nvPr/>
        </p:nvSpPr>
        <p:spPr>
          <a:xfrm xmlns:a="http://schemas.openxmlformats.org/drawingml/2006/main">
            <a:off x="1143000" y="34861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Displays alert, fault type, error, threshold, and readings.</a:t>
            </a:r>
          </a:p>
        </p:txBody>
      </p:sp>
      <p:sp>
        <p:nvSpPr>
          <p:cNvPr id="12" name="">
            <a:extLst xmlns:a="http://schemas.openxmlformats.org/drawingml/2006/main">
              <a:ext uri="{FF2B5EF4-FFF2-40B4-BE49-F238E27FC236}">
                <a16:creationId xmlns:a16="http://schemas.microsoft.com/office/drawing/2014/main" id="{695F3A9A-AA2D-4B3E-B8D1-938B7DD3EE6F}"/>
              </a:ext>
            </a:extLst>
          </p:cNvPr>
          <p:cNvSpPr>
            <a:spLocks xmlns:a="http://schemas.openxmlformats.org/drawingml/2006/main" noGrp="1"/>
          </p:cNvSpPr>
          <p:nvPr/>
        </p:nvSpPr>
        <p:spPr>
          <a:xfrm xmlns:a="http://schemas.openxmlformats.org/drawingml/2006/main">
            <a:off x="6572250" y="16573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F3BB63"/>
                </a:solidFill>
              </a:defRPr>
            </a:defPPr>
            <a:lvl1pPr>
              <a:defRPr sz="1125" b="1">
                <a:solidFill>
                  <a:srgbClr val="F3BB63"/>
                </a:solidFill>
              </a:defRPr>
            </a:lvl1pPr>
            <a:lvl2pPr>
              <a:defRPr sz="1125" b="1">
                <a:solidFill>
                  <a:srgbClr val="F3BB63"/>
                </a:solidFill>
              </a:defRPr>
            </a:lvl2pPr>
            <a:lvl3pPr>
              <a:defRPr sz="1125" b="1">
                <a:solidFill>
                  <a:srgbClr val="F3BB63"/>
                </a:solidFill>
              </a:defRPr>
            </a:lvl3pPr>
            <a:lvl4pPr>
              <a:defRPr sz="1125" b="1">
                <a:solidFill>
                  <a:srgbClr val="F3BB63"/>
                </a:solidFill>
              </a:defRPr>
            </a:lvl4pPr>
            <a:lvl5pPr>
              <a:defRPr sz="1125" b="1">
                <a:solidFill>
                  <a:srgbClr val="F3BB63"/>
                </a:solidFill>
              </a:defRPr>
            </a:lvl5pPr>
            <a:lvl6pPr>
              <a:defRPr sz="1125" b="1">
                <a:solidFill>
                  <a:srgbClr val="F3BB63"/>
                </a:solidFill>
              </a:defRPr>
            </a:lvl6pPr>
            <a:lvl7pPr>
              <a:defRPr sz="1125" b="1">
                <a:solidFill>
                  <a:srgbClr val="F3BB63"/>
                </a:solidFill>
              </a:defRPr>
            </a:lvl7pPr>
            <a:lvl8pPr>
              <a:defRPr sz="1125" b="1">
                <a:solidFill>
                  <a:srgbClr val="F3BB63"/>
                </a:solidFill>
              </a:defRPr>
            </a:lvl8pPr>
            <a:lvl9pPr>
              <a:defRPr sz="1125" b="1">
                <a:solidFill>
                  <a:srgbClr val="F3BB63"/>
                </a:solidFill>
              </a:defRPr>
            </a:lvl9pPr>
          </a:lstStyle>
          <a:p xmlns:a="http://schemas.openxmlformats.org/drawingml/2006/main">
            <a:pPr>
              <a:defRPr sz="1125" b="1">
                <a:solidFill>
                  <a:srgbClr val="F3BB63"/>
                </a:solidFill>
              </a:defRPr>
            </a:pPr>
            <a:r>
              <a:rPr sz="1125" b="1">
                <a:solidFill>
                  <a:srgbClr val="F3BB63"/>
                </a:solidFill>
              </a:rPr>
              <a:t>THE API</a:t>
            </a:r>
          </a:p>
        </p:txBody>
      </p:sp>
      <p:sp>
        <p:nvSpPr>
          <p:cNvPr id="13" name="">
            <a:extLst xmlns:a="http://schemas.openxmlformats.org/drawingml/2006/main">
              <a:ext uri="{FF2B5EF4-FFF2-40B4-BE49-F238E27FC236}">
                <a16:creationId xmlns:a16="http://schemas.microsoft.com/office/drawing/2014/main" id="{89C3BDE0-EDB8-4037-AD19-DDAA5868DB05}"/>
              </a:ext>
            </a:extLst>
          </p:cNvPr>
          <p:cNvSpPr>
            <a:spLocks xmlns:a="http://schemas.openxmlformats.org/drawingml/2006/main" noGrp="1"/>
          </p:cNvSpPr>
          <p:nvPr/>
        </p:nvSpPr>
        <p:spPr>
          <a:xfrm xmlns:a="http://schemas.openxmlformats.org/drawingml/2006/main">
            <a:off x="6572250" y="21526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4" name="">
            <a:extLst xmlns:a="http://schemas.openxmlformats.org/drawingml/2006/main">
              <a:ext uri="{FF2B5EF4-FFF2-40B4-BE49-F238E27FC236}">
                <a16:creationId xmlns:a16="http://schemas.microsoft.com/office/drawing/2014/main" id="{4510A9DE-60D7-4F9E-BFFF-5A8380AE77A8}"/>
              </a:ext>
            </a:extLst>
          </p:cNvPr>
          <p:cNvSpPr>
            <a:spLocks xmlns:a="http://schemas.openxmlformats.org/drawingml/2006/main" noGrp="1"/>
          </p:cNvSpPr>
          <p:nvPr/>
        </p:nvSpPr>
        <p:spPr>
          <a:xfrm xmlns:a="http://schemas.openxmlformats.org/drawingml/2006/main">
            <a:off x="6858000" y="21526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GET /health reports service and artifact status.</a:t>
            </a:r>
          </a:p>
        </p:txBody>
      </p:sp>
      <p:sp>
        <p:nvSpPr>
          <p:cNvPr id="15" name="">
            <a:extLst xmlns:a="http://schemas.openxmlformats.org/drawingml/2006/main">
              <a:ext uri="{FF2B5EF4-FFF2-40B4-BE49-F238E27FC236}">
                <a16:creationId xmlns:a16="http://schemas.microsoft.com/office/drawing/2014/main" id="{67959165-BCA6-4A22-9CFC-3159FDB745EF}"/>
              </a:ext>
            </a:extLst>
          </p:cNvPr>
          <p:cNvSpPr>
            <a:spLocks xmlns:a="http://schemas.openxmlformats.org/drawingml/2006/main" noGrp="1"/>
          </p:cNvSpPr>
          <p:nvPr/>
        </p:nvSpPr>
        <p:spPr>
          <a:xfrm xmlns:a="http://schemas.openxmlformats.org/drawingml/2006/main">
            <a:off x="6572250" y="28194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6" name="">
            <a:extLst xmlns:a="http://schemas.openxmlformats.org/drawingml/2006/main">
              <a:ext uri="{FF2B5EF4-FFF2-40B4-BE49-F238E27FC236}">
                <a16:creationId xmlns:a16="http://schemas.microsoft.com/office/drawing/2014/main" id="{519C8C93-B7C4-4609-A90E-8D8A5D91781A}"/>
              </a:ext>
            </a:extLst>
          </p:cNvPr>
          <p:cNvSpPr>
            <a:spLocks xmlns:a="http://schemas.openxmlformats.org/drawingml/2006/main" noGrp="1"/>
          </p:cNvSpPr>
          <p:nvPr/>
        </p:nvSpPr>
        <p:spPr>
          <a:xfrm xmlns:a="http://schemas.openxmlformats.org/drawingml/2006/main">
            <a:off x="6858000" y="28194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POST /api/v1/diagnose accepts exactly 24 readings.</a:t>
            </a:r>
          </a:p>
        </p:txBody>
      </p:sp>
      <p:sp>
        <p:nvSpPr>
          <p:cNvPr id="17" name="">
            <a:extLst xmlns:a="http://schemas.openxmlformats.org/drawingml/2006/main">
              <a:ext uri="{FF2B5EF4-FFF2-40B4-BE49-F238E27FC236}">
                <a16:creationId xmlns:a16="http://schemas.microsoft.com/office/drawing/2014/main" id="{983F9920-1CBE-46E0-A988-07EC23802EF9}"/>
              </a:ext>
            </a:extLst>
          </p:cNvPr>
          <p:cNvSpPr>
            <a:spLocks xmlns:a="http://schemas.openxmlformats.org/drawingml/2006/main" noGrp="1"/>
          </p:cNvSpPr>
          <p:nvPr/>
        </p:nvSpPr>
        <p:spPr>
          <a:xfrm xmlns:a="http://schemas.openxmlformats.org/drawingml/2006/main">
            <a:off x="6572250" y="34861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8" name="">
            <a:extLst xmlns:a="http://schemas.openxmlformats.org/drawingml/2006/main">
              <a:ext uri="{FF2B5EF4-FFF2-40B4-BE49-F238E27FC236}">
                <a16:creationId xmlns:a16="http://schemas.microsoft.com/office/drawing/2014/main" id="{0AC0B5DD-AEDF-4766-942E-9A55A849016E}"/>
              </a:ext>
            </a:extLst>
          </p:cNvPr>
          <p:cNvSpPr>
            <a:spLocks xmlns:a="http://schemas.openxmlformats.org/drawingml/2006/main" noGrp="1"/>
          </p:cNvSpPr>
          <p:nvPr/>
        </p:nvSpPr>
        <p:spPr>
          <a:xfrm xmlns:a="http://schemas.openxmlformats.org/drawingml/2006/main">
            <a:off x="6858000" y="34861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GET /docs provides interactive API documentation.</a:t>
            </a:r>
          </a:p>
        </p:txBody>
      </p:sp>
      <p:sp>
        <p:nvSpPr>
          <p:cNvPr id="19" name="">
            <a:extLst xmlns:a="http://schemas.openxmlformats.org/drawingml/2006/main">
              <a:ext uri="{FF2B5EF4-FFF2-40B4-BE49-F238E27FC236}">
                <a16:creationId xmlns:a16="http://schemas.microsoft.com/office/drawing/2014/main" id="{352EF8E0-0462-475E-82EB-425B31EB8F48}"/>
              </a:ext>
            </a:extLst>
          </p:cNvPr>
          <p:cNvSpPr>
            <a:spLocks xmlns:a="http://schemas.openxmlformats.org/drawingml/2006/main" noGrp="1"/>
          </p:cNvSpPr>
          <p:nvPr/>
        </p:nvSpPr>
        <p:spPr>
          <a:xfrm xmlns:a="http://schemas.openxmlformats.org/drawingml/2006/main">
            <a:off x="857250" y="4686300"/>
            <a:ext cx="9906000" cy="714375"/>
          </a:xfrm>
          <a:prstGeom xmlns:a="http://schemas.openxmlformats.org/drawingml/2006/main" prst="roundRect">
            <a:avLst>
              <a:gd name="adj" fmla="val 10667"/>
            </a:avLst>
          </a:prstGeom>
          <a:solidFill xmlns:a="http://schemas.openxmlformats.org/drawingml/2006/main">
            <a:srgbClr val="10243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FB9FC0F-DDD4-4D18-BD03-160D8AAC78F6}"/>
              </a:ext>
            </a:extLst>
          </p:cNvPr>
          <p:cNvSpPr>
            <a:spLocks xmlns:a="http://schemas.openxmlformats.org/drawingml/2006/main" noGrp="1"/>
          </p:cNvSpPr>
          <p:nvPr/>
        </p:nvSpPr>
        <p:spPr>
          <a:xfrm xmlns:a="http://schemas.openxmlformats.org/drawingml/2006/main">
            <a:off x="1104900" y="4829175"/>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A8BBC5"/>
                </a:solidFill>
              </a:defRPr>
            </a:defPPr>
            <a:lvl1pPr>
              <a:defRPr sz="1425" b="0">
                <a:solidFill>
                  <a:srgbClr val="A8BBC5"/>
                </a:solidFill>
              </a:defRPr>
            </a:lvl1pPr>
            <a:lvl2pPr>
              <a:defRPr sz="1425" b="0">
                <a:solidFill>
                  <a:srgbClr val="A8BBC5"/>
                </a:solidFill>
              </a:defRPr>
            </a:lvl2pPr>
            <a:lvl3pPr>
              <a:defRPr sz="1425" b="0">
                <a:solidFill>
                  <a:srgbClr val="A8BBC5"/>
                </a:solidFill>
              </a:defRPr>
            </a:lvl3pPr>
            <a:lvl4pPr>
              <a:defRPr sz="1425" b="0">
                <a:solidFill>
                  <a:srgbClr val="A8BBC5"/>
                </a:solidFill>
              </a:defRPr>
            </a:lvl4pPr>
            <a:lvl5pPr>
              <a:defRPr sz="1425" b="0">
                <a:solidFill>
                  <a:srgbClr val="A8BBC5"/>
                </a:solidFill>
              </a:defRPr>
            </a:lvl5pPr>
            <a:lvl6pPr>
              <a:defRPr sz="1425" b="0">
                <a:solidFill>
                  <a:srgbClr val="A8BBC5"/>
                </a:solidFill>
              </a:defRPr>
            </a:lvl6pPr>
            <a:lvl7pPr>
              <a:defRPr sz="1425" b="0">
                <a:solidFill>
                  <a:srgbClr val="A8BBC5"/>
                </a:solidFill>
              </a:defRPr>
            </a:lvl7pPr>
            <a:lvl8pPr>
              <a:defRPr sz="1425" b="0">
                <a:solidFill>
                  <a:srgbClr val="A8BBC5"/>
                </a:solidFill>
              </a:defRPr>
            </a:lvl8pPr>
            <a:lvl9pPr>
              <a:defRPr sz="1425" b="0">
                <a:solidFill>
                  <a:srgbClr val="A8BBC5"/>
                </a:solidFill>
              </a:defRPr>
            </a:lvl9pPr>
          </a:lstStyle>
          <a:p xmlns:a="http://schemas.openxmlformats.org/drawingml/2006/main">
            <a:pPr>
              <a:defRPr sz="1425" b="0">
                <a:solidFill>
                  <a:srgbClr val="A8BBC5"/>
                </a:solidFill>
              </a:defRPr>
            </a:pPr>
            <a:r>
              <a:rPr sz="1425" b="0">
                <a:solidFill>
                  <a:srgbClr val="A8BBC5"/>
                </a:solidFill>
              </a:rPr>
              <a:t>Location search and weather refresh use Open-Meteo; internet required.</a:t>
            </a:r>
          </a:p>
        </p:txBody>
      </p:sp>
    </p:spTree>
    <p:extLst>
      <p:ext uri="{BB962C8B-B14F-4D97-AF65-F5344CB8AC3E}">
        <p14:creationId xmlns:p14="http://schemas.microsoft.com/office/powerpoint/2010/main" val="766114903"/>
      </p:ext>
    </p:extLst>
  </p:cSld>
</p:sld>
</file>

<file path=ppt/slides/slide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91CB446-A972-4139-8507-F708D15926A4}"/>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112A8D4C-16B1-45EF-977D-6375EAC3653E}"/>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Tools and technology</a:t>
            </a:r>
          </a:p>
        </p:txBody>
      </p:sp>
      <p:sp>
        <p:nvSpPr>
          <p:cNvPr id="3" name="">
            <a:extLst xmlns:a="http://schemas.openxmlformats.org/drawingml/2006/main">
              <a:ext uri="{FF2B5EF4-FFF2-40B4-BE49-F238E27FC236}">
                <a16:creationId xmlns:a16="http://schemas.microsoft.com/office/drawing/2014/main" id="{04AE43C9-22A6-4564-84CF-55714716C970}"/>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79A36D0-87E1-4CE4-AA66-06175049FAEF}"/>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F8893B08-DDE1-49F4-91C2-83B0BC7309E5}"/>
              </a:ext>
            </a:extLst>
          </p:cNvPr>
          <p:cNvSpPr>
            <a:spLocks xmlns:a="http://schemas.openxmlformats.org/drawingml/2006/main" noGrp="1"/>
          </p:cNvSpPr>
          <p:nvPr/>
        </p:nvSpPr>
        <p:spPr>
          <a:xfrm xmlns:a="http://schemas.openxmlformats.org/drawingml/2006/main">
            <a:off x="952500" y="1562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65D6D1"/>
                </a:solidFill>
              </a:defRPr>
            </a:defPPr>
            <a:lvl1pPr>
              <a:defRPr sz="1575" b="1">
                <a:solidFill>
                  <a:srgbClr val="65D6D1"/>
                </a:solidFill>
              </a:defRPr>
            </a:lvl1pPr>
            <a:lvl2pPr>
              <a:defRPr sz="1575" b="1">
                <a:solidFill>
                  <a:srgbClr val="65D6D1"/>
                </a:solidFill>
              </a:defRPr>
            </a:lvl2pPr>
            <a:lvl3pPr>
              <a:defRPr sz="1575" b="1">
                <a:solidFill>
                  <a:srgbClr val="65D6D1"/>
                </a:solidFill>
              </a:defRPr>
            </a:lvl3pPr>
            <a:lvl4pPr>
              <a:defRPr sz="1575" b="1">
                <a:solidFill>
                  <a:srgbClr val="65D6D1"/>
                </a:solidFill>
              </a:defRPr>
            </a:lvl4pPr>
            <a:lvl5pPr>
              <a:defRPr sz="1575" b="1">
                <a:solidFill>
                  <a:srgbClr val="65D6D1"/>
                </a:solidFill>
              </a:defRPr>
            </a:lvl5pPr>
            <a:lvl6pPr>
              <a:defRPr sz="1575" b="1">
                <a:solidFill>
                  <a:srgbClr val="65D6D1"/>
                </a:solidFill>
              </a:defRPr>
            </a:lvl6pPr>
            <a:lvl7pPr>
              <a:defRPr sz="1575" b="1">
                <a:solidFill>
                  <a:srgbClr val="65D6D1"/>
                </a:solidFill>
              </a:defRPr>
            </a:lvl7pPr>
            <a:lvl8pPr>
              <a:defRPr sz="1575" b="1">
                <a:solidFill>
                  <a:srgbClr val="65D6D1"/>
                </a:solidFill>
              </a:defRPr>
            </a:lvl8pPr>
            <a:lvl9pPr>
              <a:defRPr sz="1575" b="1">
                <a:solidFill>
                  <a:srgbClr val="65D6D1"/>
                </a:solidFill>
              </a:defRPr>
            </a:lvl9pPr>
          </a:lstStyle>
          <a:p xmlns:a="http://schemas.openxmlformats.org/drawingml/2006/main">
            <a:pPr>
              <a:defRPr sz="1575" b="1">
                <a:solidFill>
                  <a:srgbClr val="65D6D1"/>
                </a:solidFill>
              </a:defRPr>
            </a:pPr>
            <a:r>
              <a:rPr sz="1575" b="1">
                <a:solidFill>
                  <a:srgbClr val="65D6D1"/>
                </a:solidFill>
              </a:rPr>
              <a:t>Python 3.12</a:t>
            </a:r>
          </a:p>
        </p:txBody>
      </p:sp>
      <p:sp>
        <p:nvSpPr>
          <p:cNvPr id="6" name="">
            <a:extLst xmlns:a="http://schemas.openxmlformats.org/drawingml/2006/main">
              <a:ext uri="{FF2B5EF4-FFF2-40B4-BE49-F238E27FC236}">
                <a16:creationId xmlns:a16="http://schemas.microsoft.com/office/drawing/2014/main" id="{F470737B-4A95-4895-A6D4-66F23836B492}"/>
              </a:ext>
            </a:extLst>
          </p:cNvPr>
          <p:cNvSpPr>
            <a:spLocks xmlns:a="http://schemas.openxmlformats.org/drawingml/2006/main" noGrp="1"/>
          </p:cNvSpPr>
          <p:nvPr/>
        </p:nvSpPr>
        <p:spPr>
          <a:xfrm xmlns:a="http://schemas.openxmlformats.org/drawingml/2006/main">
            <a:off x="4286250" y="156210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Runtime for the service and model</a:t>
            </a:r>
          </a:p>
        </p:txBody>
      </p:sp>
      <p:sp>
        <p:nvSpPr>
          <p:cNvPr id="7" name="">
            <a:extLst xmlns:a="http://schemas.openxmlformats.org/drawingml/2006/main">
              <a:ext uri="{FF2B5EF4-FFF2-40B4-BE49-F238E27FC236}">
                <a16:creationId xmlns:a16="http://schemas.microsoft.com/office/drawing/2014/main" id="{541D129D-504C-4DD7-8793-C44E864C863E}"/>
              </a:ext>
            </a:extLst>
          </p:cNvPr>
          <p:cNvSpPr>
            <a:spLocks xmlns:a="http://schemas.openxmlformats.org/drawingml/2006/main" noGrp="1"/>
          </p:cNvSpPr>
          <p:nvPr/>
        </p:nvSpPr>
        <p:spPr>
          <a:xfrm xmlns:a="http://schemas.openxmlformats.org/drawingml/2006/main">
            <a:off x="952500" y="1981200"/>
            <a:ext cx="100965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601C80E-7EB8-49C4-836F-B4C877F8458A}"/>
              </a:ext>
            </a:extLst>
          </p:cNvPr>
          <p:cNvSpPr>
            <a:spLocks xmlns:a="http://schemas.openxmlformats.org/drawingml/2006/main" noGrp="1"/>
          </p:cNvSpPr>
          <p:nvPr/>
        </p:nvSpPr>
        <p:spPr>
          <a:xfrm xmlns:a="http://schemas.openxmlformats.org/drawingml/2006/main">
            <a:off x="952500" y="21336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65D6D1"/>
                </a:solidFill>
              </a:defRPr>
            </a:defPPr>
            <a:lvl1pPr>
              <a:defRPr sz="1575" b="1">
                <a:solidFill>
                  <a:srgbClr val="65D6D1"/>
                </a:solidFill>
              </a:defRPr>
            </a:lvl1pPr>
            <a:lvl2pPr>
              <a:defRPr sz="1575" b="1">
                <a:solidFill>
                  <a:srgbClr val="65D6D1"/>
                </a:solidFill>
              </a:defRPr>
            </a:lvl2pPr>
            <a:lvl3pPr>
              <a:defRPr sz="1575" b="1">
                <a:solidFill>
                  <a:srgbClr val="65D6D1"/>
                </a:solidFill>
              </a:defRPr>
            </a:lvl3pPr>
            <a:lvl4pPr>
              <a:defRPr sz="1575" b="1">
                <a:solidFill>
                  <a:srgbClr val="65D6D1"/>
                </a:solidFill>
              </a:defRPr>
            </a:lvl4pPr>
            <a:lvl5pPr>
              <a:defRPr sz="1575" b="1">
                <a:solidFill>
                  <a:srgbClr val="65D6D1"/>
                </a:solidFill>
              </a:defRPr>
            </a:lvl5pPr>
            <a:lvl6pPr>
              <a:defRPr sz="1575" b="1">
                <a:solidFill>
                  <a:srgbClr val="65D6D1"/>
                </a:solidFill>
              </a:defRPr>
            </a:lvl6pPr>
            <a:lvl7pPr>
              <a:defRPr sz="1575" b="1">
                <a:solidFill>
                  <a:srgbClr val="65D6D1"/>
                </a:solidFill>
              </a:defRPr>
            </a:lvl7pPr>
            <a:lvl8pPr>
              <a:defRPr sz="1575" b="1">
                <a:solidFill>
                  <a:srgbClr val="65D6D1"/>
                </a:solidFill>
              </a:defRPr>
            </a:lvl8pPr>
            <a:lvl9pPr>
              <a:defRPr sz="1575" b="1">
                <a:solidFill>
                  <a:srgbClr val="65D6D1"/>
                </a:solidFill>
              </a:defRPr>
            </a:lvl9pPr>
          </a:lstStyle>
          <a:p xmlns:a="http://schemas.openxmlformats.org/drawingml/2006/main">
            <a:pPr>
              <a:defRPr sz="1575" b="1">
                <a:solidFill>
                  <a:srgbClr val="65D6D1"/>
                </a:solidFill>
              </a:defRPr>
            </a:pPr>
            <a:r>
              <a:rPr sz="1575" b="1">
                <a:solidFill>
                  <a:srgbClr val="65D6D1"/>
                </a:solidFill>
              </a:rPr>
              <a:t>FastAPI + Uvicorn</a:t>
            </a:r>
          </a:p>
        </p:txBody>
      </p:sp>
      <p:sp>
        <p:nvSpPr>
          <p:cNvPr id="9" name="">
            <a:extLst xmlns:a="http://schemas.openxmlformats.org/drawingml/2006/main">
              <a:ext uri="{FF2B5EF4-FFF2-40B4-BE49-F238E27FC236}">
                <a16:creationId xmlns:a16="http://schemas.microsoft.com/office/drawing/2014/main" id="{146F451E-6A51-4380-81E7-EB7B52EDD9E4}"/>
              </a:ext>
            </a:extLst>
          </p:cNvPr>
          <p:cNvSpPr>
            <a:spLocks xmlns:a="http://schemas.openxmlformats.org/drawingml/2006/main" noGrp="1"/>
          </p:cNvSpPr>
          <p:nvPr/>
        </p:nvSpPr>
        <p:spPr>
          <a:xfrm xmlns:a="http://schemas.openxmlformats.org/drawingml/2006/main">
            <a:off x="4286250" y="213360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HTTP API, validation, docs, local web serving</a:t>
            </a:r>
          </a:p>
        </p:txBody>
      </p:sp>
      <p:sp>
        <p:nvSpPr>
          <p:cNvPr id="10" name="">
            <a:extLst xmlns:a="http://schemas.openxmlformats.org/drawingml/2006/main">
              <a:ext uri="{FF2B5EF4-FFF2-40B4-BE49-F238E27FC236}">
                <a16:creationId xmlns:a16="http://schemas.microsoft.com/office/drawing/2014/main" id="{66D0B524-A404-4FD5-A235-38C464583FA6}"/>
              </a:ext>
            </a:extLst>
          </p:cNvPr>
          <p:cNvSpPr>
            <a:spLocks xmlns:a="http://schemas.openxmlformats.org/drawingml/2006/main" noGrp="1"/>
          </p:cNvSpPr>
          <p:nvPr/>
        </p:nvSpPr>
        <p:spPr>
          <a:xfrm xmlns:a="http://schemas.openxmlformats.org/drawingml/2006/main">
            <a:off x="952500" y="2552700"/>
            <a:ext cx="100965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2F507E-3B02-440D-8ADF-ED009D814716}"/>
              </a:ext>
            </a:extLst>
          </p:cNvPr>
          <p:cNvSpPr>
            <a:spLocks xmlns:a="http://schemas.openxmlformats.org/drawingml/2006/main" noGrp="1"/>
          </p:cNvSpPr>
          <p:nvPr/>
        </p:nvSpPr>
        <p:spPr>
          <a:xfrm xmlns:a="http://schemas.openxmlformats.org/drawingml/2006/main">
            <a:off x="952500" y="2705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65D6D1"/>
                </a:solidFill>
              </a:defRPr>
            </a:defPPr>
            <a:lvl1pPr>
              <a:defRPr sz="1575" b="1">
                <a:solidFill>
                  <a:srgbClr val="65D6D1"/>
                </a:solidFill>
              </a:defRPr>
            </a:lvl1pPr>
            <a:lvl2pPr>
              <a:defRPr sz="1575" b="1">
                <a:solidFill>
                  <a:srgbClr val="65D6D1"/>
                </a:solidFill>
              </a:defRPr>
            </a:lvl2pPr>
            <a:lvl3pPr>
              <a:defRPr sz="1575" b="1">
                <a:solidFill>
                  <a:srgbClr val="65D6D1"/>
                </a:solidFill>
              </a:defRPr>
            </a:lvl3pPr>
            <a:lvl4pPr>
              <a:defRPr sz="1575" b="1">
                <a:solidFill>
                  <a:srgbClr val="65D6D1"/>
                </a:solidFill>
              </a:defRPr>
            </a:lvl4pPr>
            <a:lvl5pPr>
              <a:defRPr sz="1575" b="1">
                <a:solidFill>
                  <a:srgbClr val="65D6D1"/>
                </a:solidFill>
              </a:defRPr>
            </a:lvl5pPr>
            <a:lvl6pPr>
              <a:defRPr sz="1575" b="1">
                <a:solidFill>
                  <a:srgbClr val="65D6D1"/>
                </a:solidFill>
              </a:defRPr>
            </a:lvl6pPr>
            <a:lvl7pPr>
              <a:defRPr sz="1575" b="1">
                <a:solidFill>
                  <a:srgbClr val="65D6D1"/>
                </a:solidFill>
              </a:defRPr>
            </a:lvl7pPr>
            <a:lvl8pPr>
              <a:defRPr sz="1575" b="1">
                <a:solidFill>
                  <a:srgbClr val="65D6D1"/>
                </a:solidFill>
              </a:defRPr>
            </a:lvl8pPr>
            <a:lvl9pPr>
              <a:defRPr sz="1575" b="1">
                <a:solidFill>
                  <a:srgbClr val="65D6D1"/>
                </a:solidFill>
              </a:defRPr>
            </a:lvl9pPr>
          </a:lstStyle>
          <a:p xmlns:a="http://schemas.openxmlformats.org/drawingml/2006/main">
            <a:pPr>
              <a:defRPr sz="1575" b="1">
                <a:solidFill>
                  <a:srgbClr val="65D6D1"/>
                </a:solidFill>
              </a:defRPr>
            </a:pPr>
            <a:r>
              <a:rPr sz="1575" b="1">
                <a:solidFill>
                  <a:srgbClr val="65D6D1"/>
                </a:solidFill>
              </a:rPr>
              <a:t>PyTorch</a:t>
            </a:r>
          </a:p>
        </p:txBody>
      </p:sp>
      <p:sp>
        <p:nvSpPr>
          <p:cNvPr id="12" name="">
            <a:extLst xmlns:a="http://schemas.openxmlformats.org/drawingml/2006/main">
              <a:ext uri="{FF2B5EF4-FFF2-40B4-BE49-F238E27FC236}">
                <a16:creationId xmlns:a16="http://schemas.microsoft.com/office/drawing/2014/main" id="{E170A56E-D58A-43FB-8CCF-FA37C84E6C50}"/>
              </a:ext>
            </a:extLst>
          </p:cNvPr>
          <p:cNvSpPr>
            <a:spLocks xmlns:a="http://schemas.openxmlformats.org/drawingml/2006/main" noGrp="1"/>
          </p:cNvSpPr>
          <p:nvPr/>
        </p:nvSpPr>
        <p:spPr>
          <a:xfrm xmlns:a="http://schemas.openxmlformats.org/drawingml/2006/main">
            <a:off x="4286250" y="270510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LSTM autoencoder inference</a:t>
            </a:r>
          </a:p>
        </p:txBody>
      </p:sp>
      <p:sp>
        <p:nvSpPr>
          <p:cNvPr id="13" name="">
            <a:extLst xmlns:a="http://schemas.openxmlformats.org/drawingml/2006/main">
              <a:ext uri="{FF2B5EF4-FFF2-40B4-BE49-F238E27FC236}">
                <a16:creationId xmlns:a16="http://schemas.microsoft.com/office/drawing/2014/main" id="{3C19D4A3-B584-48EE-8DD2-4F2E575822E3}"/>
              </a:ext>
            </a:extLst>
          </p:cNvPr>
          <p:cNvSpPr>
            <a:spLocks xmlns:a="http://schemas.openxmlformats.org/drawingml/2006/main" noGrp="1"/>
          </p:cNvSpPr>
          <p:nvPr/>
        </p:nvSpPr>
        <p:spPr>
          <a:xfrm xmlns:a="http://schemas.openxmlformats.org/drawingml/2006/main">
            <a:off x="952500" y="3124200"/>
            <a:ext cx="100965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4B5104D-3F1C-4ADC-B6AD-503C285F5E98}"/>
              </a:ext>
            </a:extLst>
          </p:cNvPr>
          <p:cNvSpPr>
            <a:spLocks xmlns:a="http://schemas.openxmlformats.org/drawingml/2006/main" noGrp="1"/>
          </p:cNvSpPr>
          <p:nvPr/>
        </p:nvSpPr>
        <p:spPr>
          <a:xfrm xmlns:a="http://schemas.openxmlformats.org/drawingml/2006/main">
            <a:off x="952500" y="32766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65D6D1"/>
                </a:solidFill>
              </a:defRPr>
            </a:defPPr>
            <a:lvl1pPr>
              <a:defRPr sz="1575" b="1">
                <a:solidFill>
                  <a:srgbClr val="65D6D1"/>
                </a:solidFill>
              </a:defRPr>
            </a:lvl1pPr>
            <a:lvl2pPr>
              <a:defRPr sz="1575" b="1">
                <a:solidFill>
                  <a:srgbClr val="65D6D1"/>
                </a:solidFill>
              </a:defRPr>
            </a:lvl2pPr>
            <a:lvl3pPr>
              <a:defRPr sz="1575" b="1">
                <a:solidFill>
                  <a:srgbClr val="65D6D1"/>
                </a:solidFill>
              </a:defRPr>
            </a:lvl3pPr>
            <a:lvl4pPr>
              <a:defRPr sz="1575" b="1">
                <a:solidFill>
                  <a:srgbClr val="65D6D1"/>
                </a:solidFill>
              </a:defRPr>
            </a:lvl4pPr>
            <a:lvl5pPr>
              <a:defRPr sz="1575" b="1">
                <a:solidFill>
                  <a:srgbClr val="65D6D1"/>
                </a:solidFill>
              </a:defRPr>
            </a:lvl5pPr>
            <a:lvl6pPr>
              <a:defRPr sz="1575" b="1">
                <a:solidFill>
                  <a:srgbClr val="65D6D1"/>
                </a:solidFill>
              </a:defRPr>
            </a:lvl6pPr>
            <a:lvl7pPr>
              <a:defRPr sz="1575" b="1">
                <a:solidFill>
                  <a:srgbClr val="65D6D1"/>
                </a:solidFill>
              </a:defRPr>
            </a:lvl7pPr>
            <a:lvl8pPr>
              <a:defRPr sz="1575" b="1">
                <a:solidFill>
                  <a:srgbClr val="65D6D1"/>
                </a:solidFill>
              </a:defRPr>
            </a:lvl8pPr>
            <a:lvl9pPr>
              <a:defRPr sz="1575" b="1">
                <a:solidFill>
                  <a:srgbClr val="65D6D1"/>
                </a:solidFill>
              </a:defRPr>
            </a:lvl9pPr>
          </a:lstStyle>
          <a:p xmlns:a="http://schemas.openxmlformats.org/drawingml/2006/main">
            <a:pPr>
              <a:defRPr sz="1575" b="1">
                <a:solidFill>
                  <a:srgbClr val="65D6D1"/>
                </a:solidFill>
              </a:defRPr>
            </a:pPr>
            <a:r>
              <a:rPr sz="1575" b="1">
                <a:solidFill>
                  <a:srgbClr val="65D6D1"/>
                </a:solidFill>
              </a:rPr>
              <a:t>NumPy + scikit-learn</a:t>
            </a:r>
          </a:p>
        </p:txBody>
      </p:sp>
      <p:sp>
        <p:nvSpPr>
          <p:cNvPr id="15" name="">
            <a:extLst xmlns:a="http://schemas.openxmlformats.org/drawingml/2006/main">
              <a:ext uri="{FF2B5EF4-FFF2-40B4-BE49-F238E27FC236}">
                <a16:creationId xmlns:a16="http://schemas.microsoft.com/office/drawing/2014/main" id="{525DD839-E27B-4268-9EEB-E331817BE073}"/>
              </a:ext>
            </a:extLst>
          </p:cNvPr>
          <p:cNvSpPr>
            <a:spLocks xmlns:a="http://schemas.openxmlformats.org/drawingml/2006/main" noGrp="1"/>
          </p:cNvSpPr>
          <p:nvPr/>
        </p:nvSpPr>
        <p:spPr>
          <a:xfrm xmlns:a="http://schemas.openxmlformats.org/drawingml/2006/main">
            <a:off x="4286250" y="327660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Feature arrays and robust scaling</a:t>
            </a:r>
          </a:p>
        </p:txBody>
      </p:sp>
      <p:sp>
        <p:nvSpPr>
          <p:cNvPr id="16" name="">
            <a:extLst xmlns:a="http://schemas.openxmlformats.org/drawingml/2006/main">
              <a:ext uri="{FF2B5EF4-FFF2-40B4-BE49-F238E27FC236}">
                <a16:creationId xmlns:a16="http://schemas.microsoft.com/office/drawing/2014/main" id="{20E5DD8C-C642-4031-8C3F-A3A8E416F14E}"/>
              </a:ext>
            </a:extLst>
          </p:cNvPr>
          <p:cNvSpPr>
            <a:spLocks xmlns:a="http://schemas.openxmlformats.org/drawingml/2006/main" noGrp="1"/>
          </p:cNvSpPr>
          <p:nvPr/>
        </p:nvSpPr>
        <p:spPr>
          <a:xfrm xmlns:a="http://schemas.openxmlformats.org/drawingml/2006/main">
            <a:off x="952500" y="3695700"/>
            <a:ext cx="100965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CFF293D-6299-4486-B743-6C61508DD032}"/>
              </a:ext>
            </a:extLst>
          </p:cNvPr>
          <p:cNvSpPr>
            <a:spLocks xmlns:a="http://schemas.openxmlformats.org/drawingml/2006/main" noGrp="1"/>
          </p:cNvSpPr>
          <p:nvPr/>
        </p:nvSpPr>
        <p:spPr>
          <a:xfrm xmlns:a="http://schemas.openxmlformats.org/drawingml/2006/main">
            <a:off x="952500" y="3848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65D6D1"/>
                </a:solidFill>
              </a:defRPr>
            </a:defPPr>
            <a:lvl1pPr>
              <a:defRPr sz="1575" b="1">
                <a:solidFill>
                  <a:srgbClr val="65D6D1"/>
                </a:solidFill>
              </a:defRPr>
            </a:lvl1pPr>
            <a:lvl2pPr>
              <a:defRPr sz="1575" b="1">
                <a:solidFill>
                  <a:srgbClr val="65D6D1"/>
                </a:solidFill>
              </a:defRPr>
            </a:lvl2pPr>
            <a:lvl3pPr>
              <a:defRPr sz="1575" b="1">
                <a:solidFill>
                  <a:srgbClr val="65D6D1"/>
                </a:solidFill>
              </a:defRPr>
            </a:lvl3pPr>
            <a:lvl4pPr>
              <a:defRPr sz="1575" b="1">
                <a:solidFill>
                  <a:srgbClr val="65D6D1"/>
                </a:solidFill>
              </a:defRPr>
            </a:lvl4pPr>
            <a:lvl5pPr>
              <a:defRPr sz="1575" b="1">
                <a:solidFill>
                  <a:srgbClr val="65D6D1"/>
                </a:solidFill>
              </a:defRPr>
            </a:lvl5pPr>
            <a:lvl6pPr>
              <a:defRPr sz="1575" b="1">
                <a:solidFill>
                  <a:srgbClr val="65D6D1"/>
                </a:solidFill>
              </a:defRPr>
            </a:lvl6pPr>
            <a:lvl7pPr>
              <a:defRPr sz="1575" b="1">
                <a:solidFill>
                  <a:srgbClr val="65D6D1"/>
                </a:solidFill>
              </a:defRPr>
            </a:lvl7pPr>
            <a:lvl8pPr>
              <a:defRPr sz="1575" b="1">
                <a:solidFill>
                  <a:srgbClr val="65D6D1"/>
                </a:solidFill>
              </a:defRPr>
            </a:lvl8pPr>
            <a:lvl9pPr>
              <a:defRPr sz="1575" b="1">
                <a:solidFill>
                  <a:srgbClr val="65D6D1"/>
                </a:solidFill>
              </a:defRPr>
            </a:lvl9pPr>
          </a:lstStyle>
          <a:p xmlns:a="http://schemas.openxmlformats.org/drawingml/2006/main">
            <a:pPr>
              <a:defRPr sz="1575" b="1">
                <a:solidFill>
                  <a:srgbClr val="65D6D1"/>
                </a:solidFill>
              </a:defRPr>
            </a:pPr>
            <a:r>
              <a:rPr sz="1575" b="1">
                <a:solidFill>
                  <a:srgbClr val="65D6D1"/>
                </a:solidFill>
              </a:rPr>
              <a:t>Joblib</a:t>
            </a:r>
          </a:p>
        </p:txBody>
      </p:sp>
      <p:sp>
        <p:nvSpPr>
          <p:cNvPr id="18" name="">
            <a:extLst xmlns:a="http://schemas.openxmlformats.org/drawingml/2006/main">
              <a:ext uri="{FF2B5EF4-FFF2-40B4-BE49-F238E27FC236}">
                <a16:creationId xmlns:a16="http://schemas.microsoft.com/office/drawing/2014/main" id="{B5A18EB3-6EB2-4999-851E-864F573B9FF0}"/>
              </a:ext>
            </a:extLst>
          </p:cNvPr>
          <p:cNvSpPr>
            <a:spLocks xmlns:a="http://schemas.openxmlformats.org/drawingml/2006/main" noGrp="1"/>
          </p:cNvSpPr>
          <p:nvPr/>
        </p:nvSpPr>
        <p:spPr>
          <a:xfrm xmlns:a="http://schemas.openxmlformats.org/drawingml/2006/main">
            <a:off x="4286250" y="384810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Loads the saved scaler</a:t>
            </a:r>
          </a:p>
        </p:txBody>
      </p:sp>
      <p:sp>
        <p:nvSpPr>
          <p:cNvPr id="19" name="">
            <a:extLst xmlns:a="http://schemas.openxmlformats.org/drawingml/2006/main">
              <a:ext uri="{FF2B5EF4-FFF2-40B4-BE49-F238E27FC236}">
                <a16:creationId xmlns:a16="http://schemas.microsoft.com/office/drawing/2014/main" id="{EBFC57A8-FBF0-44D7-96F7-2120F6A9C9E6}"/>
              </a:ext>
            </a:extLst>
          </p:cNvPr>
          <p:cNvSpPr>
            <a:spLocks xmlns:a="http://schemas.openxmlformats.org/drawingml/2006/main" noGrp="1"/>
          </p:cNvSpPr>
          <p:nvPr/>
        </p:nvSpPr>
        <p:spPr>
          <a:xfrm xmlns:a="http://schemas.openxmlformats.org/drawingml/2006/main">
            <a:off x="952500" y="4267200"/>
            <a:ext cx="100965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6B9611F-9CC3-41D2-AD08-73F6FBF1646B}"/>
              </a:ext>
            </a:extLst>
          </p:cNvPr>
          <p:cNvSpPr>
            <a:spLocks xmlns:a="http://schemas.openxmlformats.org/drawingml/2006/main" noGrp="1"/>
          </p:cNvSpPr>
          <p:nvPr/>
        </p:nvSpPr>
        <p:spPr>
          <a:xfrm xmlns:a="http://schemas.openxmlformats.org/drawingml/2006/main">
            <a:off x="952500" y="44196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65D6D1"/>
                </a:solidFill>
              </a:defRPr>
            </a:defPPr>
            <a:lvl1pPr>
              <a:defRPr sz="1575" b="1">
                <a:solidFill>
                  <a:srgbClr val="65D6D1"/>
                </a:solidFill>
              </a:defRPr>
            </a:lvl1pPr>
            <a:lvl2pPr>
              <a:defRPr sz="1575" b="1">
                <a:solidFill>
                  <a:srgbClr val="65D6D1"/>
                </a:solidFill>
              </a:defRPr>
            </a:lvl2pPr>
            <a:lvl3pPr>
              <a:defRPr sz="1575" b="1">
                <a:solidFill>
                  <a:srgbClr val="65D6D1"/>
                </a:solidFill>
              </a:defRPr>
            </a:lvl3pPr>
            <a:lvl4pPr>
              <a:defRPr sz="1575" b="1">
                <a:solidFill>
                  <a:srgbClr val="65D6D1"/>
                </a:solidFill>
              </a:defRPr>
            </a:lvl4pPr>
            <a:lvl5pPr>
              <a:defRPr sz="1575" b="1">
                <a:solidFill>
                  <a:srgbClr val="65D6D1"/>
                </a:solidFill>
              </a:defRPr>
            </a:lvl5pPr>
            <a:lvl6pPr>
              <a:defRPr sz="1575" b="1">
                <a:solidFill>
                  <a:srgbClr val="65D6D1"/>
                </a:solidFill>
              </a:defRPr>
            </a:lvl6pPr>
            <a:lvl7pPr>
              <a:defRPr sz="1575" b="1">
                <a:solidFill>
                  <a:srgbClr val="65D6D1"/>
                </a:solidFill>
              </a:defRPr>
            </a:lvl7pPr>
            <a:lvl8pPr>
              <a:defRPr sz="1575" b="1">
                <a:solidFill>
                  <a:srgbClr val="65D6D1"/>
                </a:solidFill>
              </a:defRPr>
            </a:lvl8pPr>
            <a:lvl9pPr>
              <a:defRPr sz="1575" b="1">
                <a:solidFill>
                  <a:srgbClr val="65D6D1"/>
                </a:solidFill>
              </a:defRPr>
            </a:lvl9pPr>
          </a:lstStyle>
          <a:p xmlns:a="http://schemas.openxmlformats.org/drawingml/2006/main">
            <a:pPr>
              <a:defRPr sz="1575" b="1">
                <a:solidFill>
                  <a:srgbClr val="65D6D1"/>
                </a:solidFill>
              </a:defRPr>
            </a:pPr>
            <a:r>
              <a:rPr sz="1575" b="1">
                <a:solidFill>
                  <a:srgbClr val="65D6D1"/>
                </a:solidFill>
              </a:rPr>
              <a:t>HTML / CSS / JavaScript</a:t>
            </a:r>
          </a:p>
        </p:txBody>
      </p:sp>
      <p:sp>
        <p:nvSpPr>
          <p:cNvPr id="21" name="">
            <a:extLst xmlns:a="http://schemas.openxmlformats.org/drawingml/2006/main">
              <a:ext uri="{FF2B5EF4-FFF2-40B4-BE49-F238E27FC236}">
                <a16:creationId xmlns:a16="http://schemas.microsoft.com/office/drawing/2014/main" id="{41C242BB-B330-4EFF-BB1A-C8BC3E8F9C0B}"/>
              </a:ext>
            </a:extLst>
          </p:cNvPr>
          <p:cNvSpPr>
            <a:spLocks xmlns:a="http://schemas.openxmlformats.org/drawingml/2006/main" noGrp="1"/>
          </p:cNvSpPr>
          <p:nvPr/>
        </p:nvSpPr>
        <p:spPr>
          <a:xfrm xmlns:a="http://schemas.openxmlformats.org/drawingml/2006/main">
            <a:off x="4286250" y="441960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Browser dashboard and API calls</a:t>
            </a:r>
          </a:p>
        </p:txBody>
      </p:sp>
      <p:sp>
        <p:nvSpPr>
          <p:cNvPr id="22" name="">
            <a:extLst xmlns:a="http://schemas.openxmlformats.org/drawingml/2006/main">
              <a:ext uri="{FF2B5EF4-FFF2-40B4-BE49-F238E27FC236}">
                <a16:creationId xmlns:a16="http://schemas.microsoft.com/office/drawing/2014/main" id="{32B0A6DF-52CA-4403-A722-33BC1DF08889}"/>
              </a:ext>
            </a:extLst>
          </p:cNvPr>
          <p:cNvSpPr>
            <a:spLocks xmlns:a="http://schemas.openxmlformats.org/drawingml/2006/main" noGrp="1"/>
          </p:cNvSpPr>
          <p:nvPr/>
        </p:nvSpPr>
        <p:spPr>
          <a:xfrm xmlns:a="http://schemas.openxmlformats.org/drawingml/2006/main">
            <a:off x="952500" y="4838700"/>
            <a:ext cx="100965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FE544FA-B5EE-4586-B66D-687DE495296F}"/>
              </a:ext>
            </a:extLst>
          </p:cNvPr>
          <p:cNvSpPr>
            <a:spLocks xmlns:a="http://schemas.openxmlformats.org/drawingml/2006/main" noGrp="1"/>
          </p:cNvSpPr>
          <p:nvPr/>
        </p:nvSpPr>
        <p:spPr>
          <a:xfrm xmlns:a="http://schemas.openxmlformats.org/drawingml/2006/main">
            <a:off x="952500" y="4991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F3BB63"/>
                </a:solidFill>
              </a:defRPr>
            </a:defPPr>
            <a:lvl1pPr>
              <a:defRPr sz="1575" b="1">
                <a:solidFill>
                  <a:srgbClr val="F3BB63"/>
                </a:solidFill>
              </a:defRPr>
            </a:lvl1pPr>
            <a:lvl2pPr>
              <a:defRPr sz="1575" b="1">
                <a:solidFill>
                  <a:srgbClr val="F3BB63"/>
                </a:solidFill>
              </a:defRPr>
            </a:lvl2pPr>
            <a:lvl3pPr>
              <a:defRPr sz="1575" b="1">
                <a:solidFill>
                  <a:srgbClr val="F3BB63"/>
                </a:solidFill>
              </a:defRPr>
            </a:lvl3pPr>
            <a:lvl4pPr>
              <a:defRPr sz="1575" b="1">
                <a:solidFill>
                  <a:srgbClr val="F3BB63"/>
                </a:solidFill>
              </a:defRPr>
            </a:lvl4pPr>
            <a:lvl5pPr>
              <a:defRPr sz="1575" b="1">
                <a:solidFill>
                  <a:srgbClr val="F3BB63"/>
                </a:solidFill>
              </a:defRPr>
            </a:lvl5pPr>
            <a:lvl6pPr>
              <a:defRPr sz="1575" b="1">
                <a:solidFill>
                  <a:srgbClr val="F3BB63"/>
                </a:solidFill>
              </a:defRPr>
            </a:lvl6pPr>
            <a:lvl7pPr>
              <a:defRPr sz="1575" b="1">
                <a:solidFill>
                  <a:srgbClr val="F3BB63"/>
                </a:solidFill>
              </a:defRPr>
            </a:lvl7pPr>
            <a:lvl8pPr>
              <a:defRPr sz="1575" b="1">
                <a:solidFill>
                  <a:srgbClr val="F3BB63"/>
                </a:solidFill>
              </a:defRPr>
            </a:lvl8pPr>
            <a:lvl9pPr>
              <a:defRPr sz="1575" b="1">
                <a:solidFill>
                  <a:srgbClr val="F3BB63"/>
                </a:solidFill>
              </a:defRPr>
            </a:lvl9pPr>
          </a:lstStyle>
          <a:p xmlns:a="http://schemas.openxmlformats.org/drawingml/2006/main">
            <a:pPr>
              <a:defRPr sz="1575" b="1">
                <a:solidFill>
                  <a:srgbClr val="F3BB63"/>
                </a:solidFill>
              </a:defRPr>
            </a:pPr>
            <a:r>
              <a:rPr sz="1575" b="1">
                <a:solidFill>
                  <a:srgbClr val="F3BB63"/>
                </a:solidFill>
              </a:rPr>
              <a:t>Open-Meteo APIs</a:t>
            </a:r>
          </a:p>
        </p:txBody>
      </p:sp>
      <p:sp>
        <p:nvSpPr>
          <p:cNvPr id="24" name="">
            <a:extLst xmlns:a="http://schemas.openxmlformats.org/drawingml/2006/main">
              <a:ext uri="{FF2B5EF4-FFF2-40B4-BE49-F238E27FC236}">
                <a16:creationId xmlns:a16="http://schemas.microsoft.com/office/drawing/2014/main" id="{32024DA5-1729-48C1-B9BF-52BADC0499D3}"/>
              </a:ext>
            </a:extLst>
          </p:cNvPr>
          <p:cNvSpPr>
            <a:spLocks xmlns:a="http://schemas.openxmlformats.org/drawingml/2006/main" noGrp="1"/>
          </p:cNvSpPr>
          <p:nvPr/>
        </p:nvSpPr>
        <p:spPr>
          <a:xfrm xmlns:a="http://schemas.openxmlformats.org/drawingml/2006/main">
            <a:off x="4286250" y="499110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Geocoding and hourly weather estimates</a:t>
            </a:r>
          </a:p>
        </p:txBody>
      </p:sp>
    </p:spTree>
    <p:extLst>
      <p:ext uri="{BB962C8B-B14F-4D97-AF65-F5344CB8AC3E}">
        <p14:creationId xmlns:p14="http://schemas.microsoft.com/office/powerpoint/2010/main" val="1645922088"/>
      </p:ext>
    </p:extLst>
  </p:cSld>
</p:sld>
</file>

<file path=ppt/slides/slide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A205006-EBD0-4782-BFE4-159F7497D159}"/>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7703FB3F-2F7E-4778-8AB8-9B11985CD59D}"/>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Who the site is for</a:t>
            </a:r>
          </a:p>
        </p:txBody>
      </p:sp>
      <p:sp>
        <p:nvSpPr>
          <p:cNvPr id="3" name="">
            <a:extLst xmlns:a="http://schemas.openxmlformats.org/drawingml/2006/main">
              <a:ext uri="{FF2B5EF4-FFF2-40B4-BE49-F238E27FC236}">
                <a16:creationId xmlns:a16="http://schemas.microsoft.com/office/drawing/2014/main" id="{6DAB088A-EEC2-4A03-A5AF-261CF5B81C98}"/>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FC74236-79CB-4B6D-91B3-3903E43176BF}"/>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F3803F14-765C-4825-8CAF-8A9644D729AE}"/>
              </a:ext>
            </a:extLst>
          </p:cNvPr>
          <p:cNvSpPr>
            <a:spLocks xmlns:a="http://schemas.openxmlformats.org/drawingml/2006/main" noGrp="1"/>
          </p:cNvSpPr>
          <p:nvPr/>
        </p:nvSpPr>
        <p:spPr>
          <a:xfrm xmlns:a="http://schemas.openxmlformats.org/drawingml/2006/main">
            <a:off x="895350" y="16573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65D6D1"/>
                </a:solidFill>
              </a:defRPr>
            </a:defPPr>
            <a:lvl1pPr>
              <a:defRPr sz="1125" b="1">
                <a:solidFill>
                  <a:srgbClr val="65D6D1"/>
                </a:solidFill>
              </a:defRPr>
            </a:lvl1pPr>
            <a:lvl2pPr>
              <a:defRPr sz="1125" b="1">
                <a:solidFill>
                  <a:srgbClr val="65D6D1"/>
                </a:solidFill>
              </a:defRPr>
            </a:lvl2pPr>
            <a:lvl3pPr>
              <a:defRPr sz="1125" b="1">
                <a:solidFill>
                  <a:srgbClr val="65D6D1"/>
                </a:solidFill>
              </a:defRPr>
            </a:lvl3pPr>
            <a:lvl4pPr>
              <a:defRPr sz="1125" b="1">
                <a:solidFill>
                  <a:srgbClr val="65D6D1"/>
                </a:solidFill>
              </a:defRPr>
            </a:lvl4pPr>
            <a:lvl5pPr>
              <a:defRPr sz="1125" b="1">
                <a:solidFill>
                  <a:srgbClr val="65D6D1"/>
                </a:solidFill>
              </a:defRPr>
            </a:lvl5pPr>
            <a:lvl6pPr>
              <a:defRPr sz="1125" b="1">
                <a:solidFill>
                  <a:srgbClr val="65D6D1"/>
                </a:solidFill>
              </a:defRPr>
            </a:lvl6pPr>
            <a:lvl7pPr>
              <a:defRPr sz="1125" b="1">
                <a:solidFill>
                  <a:srgbClr val="65D6D1"/>
                </a:solidFill>
              </a:defRPr>
            </a:lvl7pPr>
            <a:lvl8pPr>
              <a:defRPr sz="1125" b="1">
                <a:solidFill>
                  <a:srgbClr val="65D6D1"/>
                </a:solidFill>
              </a:defRPr>
            </a:lvl8pPr>
            <a:lvl9pPr>
              <a:defRPr sz="1125" b="1">
                <a:solidFill>
                  <a:srgbClr val="65D6D1"/>
                </a:solidFill>
              </a:defRPr>
            </a:lvl9pPr>
          </a:lstStyle>
          <a:p xmlns:a="http://schemas.openxmlformats.org/drawingml/2006/main">
            <a:pPr>
              <a:defRPr sz="1125" b="1">
                <a:solidFill>
                  <a:srgbClr val="65D6D1"/>
                </a:solidFill>
              </a:defRPr>
            </a:pPr>
            <a:r>
              <a:rPr sz="1125" b="1">
                <a:solidFill>
                  <a:srgbClr val="65D6D1"/>
                </a:solidFill>
              </a:rPr>
              <a:t>PRIMARY USERS</a:t>
            </a:r>
          </a:p>
        </p:txBody>
      </p:sp>
      <p:sp>
        <p:nvSpPr>
          <p:cNvPr id="6" name="">
            <a:extLst xmlns:a="http://schemas.openxmlformats.org/drawingml/2006/main">
              <a:ext uri="{FF2B5EF4-FFF2-40B4-BE49-F238E27FC236}">
                <a16:creationId xmlns:a16="http://schemas.microsoft.com/office/drawing/2014/main" id="{DC39D79A-7CE2-4F7B-ADED-AD020A8B605F}"/>
              </a:ext>
            </a:extLst>
          </p:cNvPr>
          <p:cNvSpPr>
            <a:spLocks xmlns:a="http://schemas.openxmlformats.org/drawingml/2006/main" noGrp="1"/>
          </p:cNvSpPr>
          <p:nvPr/>
        </p:nvSpPr>
        <p:spPr>
          <a:xfrm xmlns:a="http://schemas.openxmlformats.org/drawingml/2006/main">
            <a:off x="895350" y="21336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7" name="">
            <a:extLst xmlns:a="http://schemas.openxmlformats.org/drawingml/2006/main">
              <a:ext uri="{FF2B5EF4-FFF2-40B4-BE49-F238E27FC236}">
                <a16:creationId xmlns:a16="http://schemas.microsoft.com/office/drawing/2014/main" id="{EF03A054-8A8A-4EAE-9594-BC196B7109CB}"/>
              </a:ext>
            </a:extLst>
          </p:cNvPr>
          <p:cNvSpPr>
            <a:spLocks xmlns:a="http://schemas.openxmlformats.org/drawingml/2006/main" noGrp="1"/>
          </p:cNvSpPr>
          <p:nvPr/>
        </p:nvSpPr>
        <p:spPr>
          <a:xfrm xmlns:a="http://schemas.openxmlformats.org/drawingml/2006/main">
            <a:off x="1181100" y="21336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Weather station operators checking incoming telemetry.</a:t>
            </a:r>
          </a:p>
        </p:txBody>
      </p:sp>
      <p:sp>
        <p:nvSpPr>
          <p:cNvPr id="8" name="">
            <a:extLst xmlns:a="http://schemas.openxmlformats.org/drawingml/2006/main">
              <a:ext uri="{FF2B5EF4-FFF2-40B4-BE49-F238E27FC236}">
                <a16:creationId xmlns:a16="http://schemas.microsoft.com/office/drawing/2014/main" id="{A97B4241-9C76-46C6-8708-1BD2F8B5DEB0}"/>
              </a:ext>
            </a:extLst>
          </p:cNvPr>
          <p:cNvSpPr>
            <a:spLocks xmlns:a="http://schemas.openxmlformats.org/drawingml/2006/main" noGrp="1"/>
          </p:cNvSpPr>
          <p:nvPr/>
        </p:nvSpPr>
        <p:spPr>
          <a:xfrm xmlns:a="http://schemas.openxmlformats.org/drawingml/2006/main">
            <a:off x="895350" y="28575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9" name="">
            <a:extLst xmlns:a="http://schemas.openxmlformats.org/drawingml/2006/main">
              <a:ext uri="{FF2B5EF4-FFF2-40B4-BE49-F238E27FC236}">
                <a16:creationId xmlns:a16="http://schemas.microsoft.com/office/drawing/2014/main" id="{A737EACE-3FD8-4CA9-9781-437E47E48200}"/>
              </a:ext>
            </a:extLst>
          </p:cNvPr>
          <p:cNvSpPr>
            <a:spLocks xmlns:a="http://schemas.openxmlformats.org/drawingml/2006/main" noGrp="1"/>
          </p:cNvSpPr>
          <p:nvPr/>
        </p:nvSpPr>
        <p:spPr>
          <a:xfrm xmlns:a="http://schemas.openxmlformats.org/drawingml/2006/main">
            <a:off x="1181100" y="28575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Developers integrating or evaluating sensor-quality APIs.</a:t>
            </a:r>
          </a:p>
        </p:txBody>
      </p:sp>
      <p:sp>
        <p:nvSpPr>
          <p:cNvPr id="10" name="">
            <a:extLst xmlns:a="http://schemas.openxmlformats.org/drawingml/2006/main">
              <a:ext uri="{FF2B5EF4-FFF2-40B4-BE49-F238E27FC236}">
                <a16:creationId xmlns:a16="http://schemas.microsoft.com/office/drawing/2014/main" id="{7A8C96E1-1BB5-4CF7-87D5-37BE3798C2FF}"/>
              </a:ext>
            </a:extLst>
          </p:cNvPr>
          <p:cNvSpPr>
            <a:spLocks xmlns:a="http://schemas.openxmlformats.org/drawingml/2006/main" noGrp="1"/>
          </p:cNvSpPr>
          <p:nvPr/>
        </p:nvSpPr>
        <p:spPr>
          <a:xfrm xmlns:a="http://schemas.openxmlformats.org/drawingml/2006/main">
            <a:off x="895350" y="35814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1" name="">
            <a:extLst xmlns:a="http://schemas.openxmlformats.org/drawingml/2006/main">
              <a:ext uri="{FF2B5EF4-FFF2-40B4-BE49-F238E27FC236}">
                <a16:creationId xmlns:a16="http://schemas.microsoft.com/office/drawing/2014/main" id="{51533ED9-7F80-45ED-A191-A8E5D75F0F47}"/>
              </a:ext>
            </a:extLst>
          </p:cNvPr>
          <p:cNvSpPr>
            <a:spLocks xmlns:a="http://schemas.openxmlformats.org/drawingml/2006/main" noGrp="1"/>
          </p:cNvSpPr>
          <p:nvPr/>
        </p:nvSpPr>
        <p:spPr>
          <a:xfrm xmlns:a="http://schemas.openxmlformats.org/drawingml/2006/main">
            <a:off x="1181100" y="35814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Hackathon judges and teams demonstrating anomaly detection.</a:t>
            </a:r>
          </a:p>
        </p:txBody>
      </p:sp>
      <p:sp>
        <p:nvSpPr>
          <p:cNvPr id="12" name="">
            <a:extLst xmlns:a="http://schemas.openxmlformats.org/drawingml/2006/main">
              <a:ext uri="{FF2B5EF4-FFF2-40B4-BE49-F238E27FC236}">
                <a16:creationId xmlns:a16="http://schemas.microsoft.com/office/drawing/2014/main" id="{D81B7001-1FE3-4226-B60D-6264CD35D43E}"/>
              </a:ext>
            </a:extLst>
          </p:cNvPr>
          <p:cNvSpPr>
            <a:spLocks xmlns:a="http://schemas.openxmlformats.org/drawingml/2006/main" noGrp="1"/>
          </p:cNvSpPr>
          <p:nvPr/>
        </p:nvSpPr>
        <p:spPr>
          <a:xfrm xmlns:a="http://schemas.openxmlformats.org/drawingml/2006/main">
            <a:off x="6477000" y="1666875"/>
            <a:ext cx="4286250" cy="2857500"/>
          </a:xfrm>
          <a:prstGeom xmlns:a="http://schemas.openxmlformats.org/drawingml/2006/main" prst="roundRect">
            <a:avLst>
              <a:gd name="adj" fmla="val 2667"/>
            </a:avLst>
          </a:prstGeom>
          <a:solidFill xmlns:a="http://schemas.openxmlformats.org/drawingml/2006/main">
            <a:srgbClr val="10243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0FDD7CF-4FCE-43C5-B4B1-AB799BC7C0E3}"/>
              </a:ext>
            </a:extLst>
          </p:cNvPr>
          <p:cNvSpPr>
            <a:spLocks xmlns:a="http://schemas.openxmlformats.org/drawingml/2006/main" noGrp="1"/>
          </p:cNvSpPr>
          <p:nvPr/>
        </p:nvSpPr>
        <p:spPr>
          <a:xfrm xmlns:a="http://schemas.openxmlformats.org/drawingml/2006/main">
            <a:off x="6819900" y="1971675"/>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F3BB63"/>
                </a:solidFill>
              </a:defRPr>
            </a:defPPr>
            <a:lvl1pPr>
              <a:defRPr sz="1125" b="1">
                <a:solidFill>
                  <a:srgbClr val="F3BB63"/>
                </a:solidFill>
              </a:defRPr>
            </a:lvl1pPr>
            <a:lvl2pPr>
              <a:defRPr sz="1125" b="1">
                <a:solidFill>
                  <a:srgbClr val="F3BB63"/>
                </a:solidFill>
              </a:defRPr>
            </a:lvl2pPr>
            <a:lvl3pPr>
              <a:defRPr sz="1125" b="1">
                <a:solidFill>
                  <a:srgbClr val="F3BB63"/>
                </a:solidFill>
              </a:defRPr>
            </a:lvl3pPr>
            <a:lvl4pPr>
              <a:defRPr sz="1125" b="1">
                <a:solidFill>
                  <a:srgbClr val="F3BB63"/>
                </a:solidFill>
              </a:defRPr>
            </a:lvl4pPr>
            <a:lvl5pPr>
              <a:defRPr sz="1125" b="1">
                <a:solidFill>
                  <a:srgbClr val="F3BB63"/>
                </a:solidFill>
              </a:defRPr>
            </a:lvl5pPr>
            <a:lvl6pPr>
              <a:defRPr sz="1125" b="1">
                <a:solidFill>
                  <a:srgbClr val="F3BB63"/>
                </a:solidFill>
              </a:defRPr>
            </a:lvl6pPr>
            <a:lvl7pPr>
              <a:defRPr sz="1125" b="1">
                <a:solidFill>
                  <a:srgbClr val="F3BB63"/>
                </a:solidFill>
              </a:defRPr>
            </a:lvl7pPr>
            <a:lvl8pPr>
              <a:defRPr sz="1125" b="1">
                <a:solidFill>
                  <a:srgbClr val="F3BB63"/>
                </a:solidFill>
              </a:defRPr>
            </a:lvl8pPr>
            <a:lvl9pPr>
              <a:defRPr sz="1125" b="1">
                <a:solidFill>
                  <a:srgbClr val="F3BB63"/>
                </a:solidFill>
              </a:defRPr>
            </a:lvl9pPr>
          </a:lstStyle>
          <a:p xmlns:a="http://schemas.openxmlformats.org/drawingml/2006/main">
            <a:pPr>
              <a:defRPr sz="1125" b="1">
                <a:solidFill>
                  <a:srgbClr val="F3BB63"/>
                </a:solidFill>
              </a:defRPr>
            </a:pPr>
            <a:r>
              <a:rPr sz="1125" b="1">
                <a:solidFill>
                  <a:srgbClr val="F3BB63"/>
                </a:solidFill>
              </a:rPr>
              <a:t>USE IT TO</a:t>
            </a:r>
          </a:p>
        </p:txBody>
      </p:sp>
      <p:sp>
        <p:nvSpPr>
          <p:cNvPr id="14" name="">
            <a:extLst xmlns:a="http://schemas.openxmlformats.org/drawingml/2006/main">
              <a:ext uri="{FF2B5EF4-FFF2-40B4-BE49-F238E27FC236}">
                <a16:creationId xmlns:a16="http://schemas.microsoft.com/office/drawing/2014/main" id="{A2D589CA-0FED-4F20-8055-9A5F9443FAD1}"/>
              </a:ext>
            </a:extLst>
          </p:cNvPr>
          <p:cNvSpPr>
            <a:spLocks xmlns:a="http://schemas.openxmlformats.org/drawingml/2006/main" noGrp="1"/>
          </p:cNvSpPr>
          <p:nvPr/>
        </p:nvSpPr>
        <p:spPr>
          <a:xfrm xmlns:a="http://schemas.openxmlformats.org/drawingml/2006/main">
            <a:off x="6819900" y="2400300"/>
            <a:ext cx="3381375"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F4F7F8"/>
                </a:solidFill>
              </a:defRPr>
            </a:defPPr>
            <a:lvl1pPr>
              <a:defRPr sz="1725" b="1">
                <a:solidFill>
                  <a:srgbClr val="F4F7F8"/>
                </a:solidFill>
              </a:defRPr>
            </a:lvl1pPr>
            <a:lvl2pPr>
              <a:defRPr sz="1725" b="1">
                <a:solidFill>
                  <a:srgbClr val="F4F7F8"/>
                </a:solidFill>
              </a:defRPr>
            </a:lvl2pPr>
            <a:lvl3pPr>
              <a:defRPr sz="1725" b="1">
                <a:solidFill>
                  <a:srgbClr val="F4F7F8"/>
                </a:solidFill>
              </a:defRPr>
            </a:lvl3pPr>
            <a:lvl4pPr>
              <a:defRPr sz="1725" b="1">
                <a:solidFill>
                  <a:srgbClr val="F4F7F8"/>
                </a:solidFill>
              </a:defRPr>
            </a:lvl4pPr>
            <a:lvl5pPr>
              <a:defRPr sz="1725" b="1">
                <a:solidFill>
                  <a:srgbClr val="F4F7F8"/>
                </a:solidFill>
              </a:defRPr>
            </a:lvl5pPr>
            <a:lvl6pPr>
              <a:defRPr sz="1725" b="1">
                <a:solidFill>
                  <a:srgbClr val="F4F7F8"/>
                </a:solidFill>
              </a:defRPr>
            </a:lvl6pPr>
            <a:lvl7pPr>
              <a:defRPr sz="1725" b="1">
                <a:solidFill>
                  <a:srgbClr val="F4F7F8"/>
                </a:solidFill>
              </a:defRPr>
            </a:lvl7pPr>
            <a:lvl8pPr>
              <a:defRPr sz="1725" b="1">
                <a:solidFill>
                  <a:srgbClr val="F4F7F8"/>
                </a:solidFill>
              </a:defRPr>
            </a:lvl8pPr>
            <a:lvl9pPr>
              <a:defRPr sz="1725" b="1">
                <a:solidFill>
                  <a:srgbClr val="F4F7F8"/>
                </a:solidFill>
              </a:defRPr>
            </a:lvl9pPr>
          </a:lstStyle>
          <a:p xmlns:a="http://schemas.openxmlformats.org/drawingml/2006/main">
            <a:pPr>
              <a:defRPr sz="1725" b="1">
                <a:solidFill>
                  <a:srgbClr val="F4F7F8"/>
                </a:solidFill>
              </a:defRPr>
            </a:pPr>
            <a:r>
              <a:rPr sz="1725" b="1">
                <a:solidFill>
                  <a:srgbClr val="F4F7F8"/>
                </a:solidFill>
              </a:rPr>
              <a:t>Review a 24-hour window</a:t>
            </a:r>
          </a:p>
          <a:p xmlns:a="http://schemas.openxmlformats.org/drawingml/2006/main">
            <a:pPr>
              <a:defRPr sz="1725" b="1">
                <a:solidFill>
                  <a:srgbClr val="F4F7F8"/>
                </a:solidFill>
              </a:defRPr>
            </a:pPr>
            <a:r>
              <a:rPr sz="1725" b="1">
                <a:solidFill>
                  <a:srgbClr val="F4F7F8"/>
                </a:solidFill>
              </a:rPr>
              <a:t>Spot likely sensor faults</a:t>
            </a:r>
          </a:p>
          <a:p xmlns:a="http://schemas.openxmlformats.org/drawingml/2006/main">
            <a:pPr>
              <a:defRPr sz="1725" b="1">
                <a:solidFill>
                  <a:srgbClr val="F4F7F8"/>
                </a:solidFill>
              </a:defRPr>
            </a:pPr>
            <a:r>
              <a:rPr sz="1725" b="1">
                <a:solidFill>
                  <a:srgbClr val="F4F7F8"/>
                </a:solidFill>
              </a:rPr>
              <a:t>See the current reading after smoothing</a:t>
            </a:r>
          </a:p>
        </p:txBody>
      </p:sp>
      <p:sp>
        <p:nvSpPr>
          <p:cNvPr id="15" name="">
            <a:extLst xmlns:a="http://schemas.openxmlformats.org/drawingml/2006/main">
              <a:ext uri="{FF2B5EF4-FFF2-40B4-BE49-F238E27FC236}">
                <a16:creationId xmlns:a16="http://schemas.microsoft.com/office/drawing/2014/main" id="{BD7D3569-5FDA-46E0-8661-BB61C149B24A}"/>
              </a:ext>
            </a:extLst>
          </p:cNvPr>
          <p:cNvSpPr>
            <a:spLocks xmlns:a="http://schemas.openxmlformats.org/drawingml/2006/main" noGrp="1"/>
          </p:cNvSpPr>
          <p:nvPr/>
        </p:nvSpPr>
        <p:spPr>
          <a:xfrm xmlns:a="http://schemas.openxmlformats.org/drawingml/2006/main">
            <a:off x="6819900" y="40386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A8BBC5"/>
                </a:solidFill>
              </a:defRPr>
            </a:defPPr>
            <a:lvl1pPr>
              <a:defRPr sz="1200" b="0">
                <a:solidFill>
                  <a:srgbClr val="A8BBC5"/>
                </a:solidFill>
              </a:defRPr>
            </a:lvl1pPr>
            <a:lvl2pPr>
              <a:defRPr sz="1200" b="0">
                <a:solidFill>
                  <a:srgbClr val="A8BBC5"/>
                </a:solidFill>
              </a:defRPr>
            </a:lvl2pPr>
            <a:lvl3pPr>
              <a:defRPr sz="1200" b="0">
                <a:solidFill>
                  <a:srgbClr val="A8BBC5"/>
                </a:solidFill>
              </a:defRPr>
            </a:lvl3pPr>
            <a:lvl4pPr>
              <a:defRPr sz="1200" b="0">
                <a:solidFill>
                  <a:srgbClr val="A8BBC5"/>
                </a:solidFill>
              </a:defRPr>
            </a:lvl4pPr>
            <a:lvl5pPr>
              <a:defRPr sz="1200" b="0">
                <a:solidFill>
                  <a:srgbClr val="A8BBC5"/>
                </a:solidFill>
              </a:defRPr>
            </a:lvl5pPr>
            <a:lvl6pPr>
              <a:defRPr sz="1200" b="0">
                <a:solidFill>
                  <a:srgbClr val="A8BBC5"/>
                </a:solidFill>
              </a:defRPr>
            </a:lvl6pPr>
            <a:lvl7pPr>
              <a:defRPr sz="1200" b="0">
                <a:solidFill>
                  <a:srgbClr val="A8BBC5"/>
                </a:solidFill>
              </a:defRPr>
            </a:lvl7pPr>
            <a:lvl8pPr>
              <a:defRPr sz="1200" b="0">
                <a:solidFill>
                  <a:srgbClr val="A8BBC5"/>
                </a:solidFill>
              </a:defRPr>
            </a:lvl8pPr>
            <a:lvl9pPr>
              <a:defRPr sz="1200" b="0">
                <a:solidFill>
                  <a:srgbClr val="A8BBC5"/>
                </a:solidFill>
              </a:defRPr>
            </a:lvl9pPr>
          </a:lstStyle>
          <a:p xmlns:a="http://schemas.openxmlformats.org/drawingml/2006/main">
            <a:pPr>
              <a:defRPr sz="1200" b="0">
                <a:solidFill>
                  <a:srgbClr val="A8BBC5"/>
                </a:solidFill>
              </a:defRPr>
            </a:pPr>
            <a:r>
              <a:rPr sz="1200" b="0">
                <a:solidFill>
                  <a:srgbClr val="A8BBC5"/>
                </a:solidFill>
              </a:rPr>
              <a:t>Prototype / demonstration scope</a:t>
            </a:r>
          </a:p>
        </p:txBody>
      </p:sp>
    </p:spTree>
    <p:extLst>
      <p:ext uri="{BB962C8B-B14F-4D97-AF65-F5344CB8AC3E}">
        <p14:creationId xmlns:p14="http://schemas.microsoft.com/office/powerpoint/2010/main" val="658126544"/>
      </p:ext>
    </p:extLst>
  </p:cSld>
</p:sld>
</file>

<file path=ppt/slides/slide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B0DB5C9-01AA-41DB-A40B-D872BFDC7650}"/>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3DA4FAC3-D082-4803-B9A7-8D716235B79A}"/>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Data source and demo limits</a:t>
            </a:r>
          </a:p>
        </p:txBody>
      </p:sp>
      <p:sp>
        <p:nvSpPr>
          <p:cNvPr id="3" name="">
            <a:extLst xmlns:a="http://schemas.openxmlformats.org/drawingml/2006/main">
              <a:ext uri="{FF2B5EF4-FFF2-40B4-BE49-F238E27FC236}">
                <a16:creationId xmlns:a16="http://schemas.microsoft.com/office/drawing/2014/main" id="{D2F0D2DA-2F69-467C-BF3F-31D46C732050}"/>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DC79282-FA4A-48D5-A15C-1DB8D5D8F38B}"/>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175CB9E4-FC6B-4A4B-A8E3-846101DBA0A6}"/>
              </a:ext>
            </a:extLst>
          </p:cNvPr>
          <p:cNvSpPr>
            <a:spLocks xmlns:a="http://schemas.openxmlformats.org/drawingml/2006/main" noGrp="1"/>
          </p:cNvSpPr>
          <p:nvPr/>
        </p:nvSpPr>
        <p:spPr>
          <a:xfrm xmlns:a="http://schemas.openxmlformats.org/drawingml/2006/main">
            <a:off x="895350" y="17526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6" name="">
            <a:extLst xmlns:a="http://schemas.openxmlformats.org/drawingml/2006/main">
              <a:ext uri="{FF2B5EF4-FFF2-40B4-BE49-F238E27FC236}">
                <a16:creationId xmlns:a16="http://schemas.microsoft.com/office/drawing/2014/main" id="{CD3C47A4-3263-45CF-BDCC-A282FDD87641}"/>
              </a:ext>
            </a:extLst>
          </p:cNvPr>
          <p:cNvSpPr>
            <a:spLocks xmlns:a="http://schemas.openxmlformats.org/drawingml/2006/main" noGrp="1"/>
          </p:cNvSpPr>
          <p:nvPr/>
        </p:nvSpPr>
        <p:spPr>
          <a:xfrm xmlns:a="http://schemas.openxmlformats.org/drawingml/2006/main">
            <a:off x="1181100" y="17526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Open-Meteo returns model-based weather estimates for a selected location.</a:t>
            </a:r>
          </a:p>
        </p:txBody>
      </p:sp>
      <p:sp>
        <p:nvSpPr>
          <p:cNvPr id="7" name="">
            <a:extLst xmlns:a="http://schemas.openxmlformats.org/drawingml/2006/main">
              <a:ext uri="{FF2B5EF4-FFF2-40B4-BE49-F238E27FC236}">
                <a16:creationId xmlns:a16="http://schemas.microsoft.com/office/drawing/2014/main" id="{F5628D30-A556-47CF-BE99-95106D7EDCFE}"/>
              </a:ext>
            </a:extLst>
          </p:cNvPr>
          <p:cNvSpPr>
            <a:spLocks xmlns:a="http://schemas.openxmlformats.org/drawingml/2006/main" noGrp="1"/>
          </p:cNvSpPr>
          <p:nvPr/>
        </p:nvSpPr>
        <p:spPr>
          <a:xfrm xmlns:a="http://schemas.openxmlformats.org/drawingml/2006/main">
            <a:off x="895350" y="25146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8" name="">
            <a:extLst xmlns:a="http://schemas.openxmlformats.org/drawingml/2006/main">
              <a:ext uri="{FF2B5EF4-FFF2-40B4-BE49-F238E27FC236}">
                <a16:creationId xmlns:a16="http://schemas.microsoft.com/office/drawing/2014/main" id="{E557F1C2-69F1-4B46-94D9-E4176A8CA2AC}"/>
              </a:ext>
            </a:extLst>
          </p:cNvPr>
          <p:cNvSpPr>
            <a:spLocks xmlns:a="http://schemas.openxmlformats.org/drawingml/2006/main" noGrp="1"/>
          </p:cNvSpPr>
          <p:nvPr/>
        </p:nvSpPr>
        <p:spPr>
          <a:xfrm xmlns:a="http://schemas.openxmlformats.org/drawingml/2006/main">
            <a:off x="1181100" y="25146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Those values are not readings from a physical AWS sensor.</a:t>
            </a:r>
          </a:p>
        </p:txBody>
      </p:sp>
      <p:sp>
        <p:nvSpPr>
          <p:cNvPr id="9" name="">
            <a:extLst xmlns:a="http://schemas.openxmlformats.org/drawingml/2006/main">
              <a:ext uri="{FF2B5EF4-FFF2-40B4-BE49-F238E27FC236}">
                <a16:creationId xmlns:a16="http://schemas.microsoft.com/office/drawing/2014/main" id="{0EB3DDFE-CE54-4B4B-8335-8002093DE747}"/>
              </a:ext>
            </a:extLst>
          </p:cNvPr>
          <p:cNvSpPr>
            <a:spLocks xmlns:a="http://schemas.openxmlformats.org/drawingml/2006/main" noGrp="1"/>
          </p:cNvSpPr>
          <p:nvPr/>
        </p:nvSpPr>
        <p:spPr>
          <a:xfrm xmlns:a="http://schemas.openxmlformats.org/drawingml/2006/main">
            <a:off x="895350" y="32766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0" name="">
            <a:extLst xmlns:a="http://schemas.openxmlformats.org/drawingml/2006/main">
              <a:ext uri="{FF2B5EF4-FFF2-40B4-BE49-F238E27FC236}">
                <a16:creationId xmlns:a16="http://schemas.microsoft.com/office/drawing/2014/main" id="{9D9796CD-2F99-4163-9C9C-7E9A02EA9BD0}"/>
              </a:ext>
            </a:extLst>
          </p:cNvPr>
          <p:cNvSpPr>
            <a:spLocks xmlns:a="http://schemas.openxmlformats.org/drawingml/2006/main" noGrp="1"/>
          </p:cNvSpPr>
          <p:nvPr/>
        </p:nvSpPr>
        <p:spPr>
          <a:xfrm xmlns:a="http://schemas.openxmlformats.org/drawingml/2006/main">
            <a:off x="1181100" y="32766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Sample data supports an offline demonstration.</a:t>
            </a:r>
          </a:p>
        </p:txBody>
      </p:sp>
      <p:sp>
        <p:nvSpPr>
          <p:cNvPr id="11" name="">
            <a:extLst xmlns:a="http://schemas.openxmlformats.org/drawingml/2006/main">
              <a:ext uri="{FF2B5EF4-FFF2-40B4-BE49-F238E27FC236}">
                <a16:creationId xmlns:a16="http://schemas.microsoft.com/office/drawing/2014/main" id="{26BD52AD-4EDA-4F69-9287-0C8E43140D1F}"/>
              </a:ext>
            </a:extLst>
          </p:cNvPr>
          <p:cNvSpPr>
            <a:spLocks xmlns:a="http://schemas.openxmlformats.org/drawingml/2006/main" noGrp="1"/>
          </p:cNvSpPr>
          <p:nvPr/>
        </p:nvSpPr>
        <p:spPr>
          <a:xfrm xmlns:a="http://schemas.openxmlformats.org/drawingml/2006/main">
            <a:off x="895350" y="40386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2" name="">
            <a:extLst xmlns:a="http://schemas.openxmlformats.org/drawingml/2006/main">
              <a:ext uri="{FF2B5EF4-FFF2-40B4-BE49-F238E27FC236}">
                <a16:creationId xmlns:a16="http://schemas.microsoft.com/office/drawing/2014/main" id="{AB4C3663-F12C-4D56-AFC2-3B5BC6EE2D96}"/>
              </a:ext>
            </a:extLst>
          </p:cNvPr>
          <p:cNvSpPr>
            <a:spLocks xmlns:a="http://schemas.openxmlformats.org/drawingml/2006/main" noGrp="1"/>
          </p:cNvSpPr>
          <p:nvPr/>
        </p:nvSpPr>
        <p:spPr>
          <a:xfrm xmlns:a="http://schemas.openxmlformats.org/drawingml/2006/main">
            <a:off x="1181100" y="40386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Python 3.12 and the saved model/scaler artifacts are needed to run the service.</a:t>
            </a:r>
          </a:p>
        </p:txBody>
      </p:sp>
      <p:sp>
        <p:nvSpPr>
          <p:cNvPr id="13" name="">
            <a:extLst xmlns:a="http://schemas.openxmlformats.org/drawingml/2006/main">
              <a:ext uri="{FF2B5EF4-FFF2-40B4-BE49-F238E27FC236}">
                <a16:creationId xmlns:a16="http://schemas.microsoft.com/office/drawing/2014/main" id="{ED84BEC2-2C49-4D60-9474-F33042746BF7}"/>
              </a:ext>
            </a:extLst>
          </p:cNvPr>
          <p:cNvSpPr>
            <a:spLocks xmlns:a="http://schemas.openxmlformats.org/drawingml/2006/main" noGrp="1"/>
          </p:cNvSpPr>
          <p:nvPr/>
        </p:nvSpPr>
        <p:spPr>
          <a:xfrm xmlns:a="http://schemas.openxmlformats.org/drawingml/2006/main">
            <a:off x="895350" y="5010150"/>
            <a:ext cx="9810750" cy="590550"/>
          </a:xfrm>
          <a:prstGeom xmlns:a="http://schemas.openxmlformats.org/drawingml/2006/main" prst="roundRect">
            <a:avLst>
              <a:gd name="adj" fmla="val 12903"/>
            </a:avLst>
          </a:prstGeom>
          <a:solidFill xmlns:a="http://schemas.openxmlformats.org/drawingml/2006/main">
            <a:srgbClr val="19374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D84FCCD-FA38-4BD1-AF03-9E927D021108}"/>
              </a:ext>
            </a:extLst>
          </p:cNvPr>
          <p:cNvSpPr>
            <a:spLocks xmlns:a="http://schemas.openxmlformats.org/drawingml/2006/main" noGrp="1"/>
          </p:cNvSpPr>
          <p:nvPr/>
        </p:nvSpPr>
        <p:spPr>
          <a:xfrm xmlns:a="http://schemas.openxmlformats.org/drawingml/2006/main">
            <a:off x="1143000" y="51244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65D6D1"/>
                </a:solidFill>
              </a:defRPr>
            </a:defPPr>
            <a:lvl1pPr>
              <a:defRPr sz="1500" b="1">
                <a:solidFill>
                  <a:srgbClr val="65D6D1"/>
                </a:solidFill>
              </a:defRPr>
            </a:lvl1pPr>
            <a:lvl2pPr>
              <a:defRPr sz="1500" b="1">
                <a:solidFill>
                  <a:srgbClr val="65D6D1"/>
                </a:solidFill>
              </a:defRPr>
            </a:lvl2pPr>
            <a:lvl3pPr>
              <a:defRPr sz="1500" b="1">
                <a:solidFill>
                  <a:srgbClr val="65D6D1"/>
                </a:solidFill>
              </a:defRPr>
            </a:lvl3pPr>
            <a:lvl4pPr>
              <a:defRPr sz="1500" b="1">
                <a:solidFill>
                  <a:srgbClr val="65D6D1"/>
                </a:solidFill>
              </a:defRPr>
            </a:lvl4pPr>
            <a:lvl5pPr>
              <a:defRPr sz="1500" b="1">
                <a:solidFill>
                  <a:srgbClr val="65D6D1"/>
                </a:solidFill>
              </a:defRPr>
            </a:lvl5pPr>
            <a:lvl6pPr>
              <a:defRPr sz="1500" b="1">
                <a:solidFill>
                  <a:srgbClr val="65D6D1"/>
                </a:solidFill>
              </a:defRPr>
            </a:lvl6pPr>
            <a:lvl7pPr>
              <a:defRPr sz="1500" b="1">
                <a:solidFill>
                  <a:srgbClr val="65D6D1"/>
                </a:solidFill>
              </a:defRPr>
            </a:lvl7pPr>
            <a:lvl8pPr>
              <a:defRPr sz="1500" b="1">
                <a:solidFill>
                  <a:srgbClr val="65D6D1"/>
                </a:solidFill>
              </a:defRPr>
            </a:lvl8pPr>
            <a:lvl9pPr>
              <a:defRPr sz="1500" b="1">
                <a:solidFill>
                  <a:srgbClr val="65D6D1"/>
                </a:solidFill>
              </a:defRPr>
            </a:lvl9pPr>
          </a:lstStyle>
          <a:p xmlns:a="http://schemas.openxmlformats.org/drawingml/2006/main">
            <a:pPr>
              <a:defRPr sz="1500" b="1">
                <a:solidFill>
                  <a:srgbClr val="65D6D1"/>
                </a:solidFill>
              </a:defRPr>
            </a:pPr>
            <a:r>
              <a:rPr sz="1500" b="1">
                <a:solidFill>
                  <a:srgbClr val="65D6D1"/>
                </a:solidFill>
              </a:rPr>
              <a:t>Describe anomaly results as a demonstration of the SkyGuard model.</a:t>
            </a:r>
          </a:p>
        </p:txBody>
      </p:sp>
    </p:spTree>
    <p:extLst>
      <p:ext uri="{BB962C8B-B14F-4D97-AF65-F5344CB8AC3E}">
        <p14:creationId xmlns:p14="http://schemas.microsoft.com/office/powerpoint/2010/main" val="1326133523"/>
      </p:ext>
    </p:extLst>
  </p:cSld>
</p:sld>
</file>

<file path=ppt/slides/slide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182FBCA-8F61-4498-A2B5-7222DE091E08}"/>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259E8FD2-35BD-4E25-9B51-E215E0B0C4CA}"/>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Demo flow and close</a:t>
            </a:r>
          </a:p>
        </p:txBody>
      </p:sp>
      <p:sp>
        <p:nvSpPr>
          <p:cNvPr id="3" name="">
            <a:extLst xmlns:a="http://schemas.openxmlformats.org/drawingml/2006/main">
              <a:ext uri="{FF2B5EF4-FFF2-40B4-BE49-F238E27FC236}">
                <a16:creationId xmlns:a16="http://schemas.microsoft.com/office/drawing/2014/main" id="{1F7267C7-A410-46F2-9999-E199C4A84102}"/>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129CA3B-54CF-4C95-9451-22C73652AC40}"/>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7DD1FC83-C6C8-4638-8B6D-376888EBB9E5}"/>
              </a:ext>
            </a:extLst>
          </p:cNvPr>
          <p:cNvSpPr>
            <a:spLocks xmlns:a="http://schemas.openxmlformats.org/drawingml/2006/main" noGrp="1"/>
          </p:cNvSpPr>
          <p:nvPr/>
        </p:nvSpPr>
        <p:spPr>
          <a:xfrm xmlns:a="http://schemas.openxmlformats.org/drawingml/2006/main">
            <a:off x="952500" y="1695450"/>
            <a:ext cx="533400" cy="533400"/>
          </a:xfrm>
          <a:prstGeom xmlns:a="http://schemas.openxmlformats.org/drawingml/2006/main" prst="roundRect">
            <a:avLst>
              <a:gd name="adj" fmla="val 14286"/>
            </a:avLst>
          </a:prstGeom>
          <a:solidFill xmlns:a="http://schemas.openxmlformats.org/drawingml/2006/main">
            <a:srgbClr val="10243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EDC3F63-47B2-48B8-BD65-F1476E92E95A}"/>
              </a:ext>
            </a:extLst>
          </p:cNvPr>
          <p:cNvSpPr>
            <a:spLocks xmlns:a="http://schemas.openxmlformats.org/drawingml/2006/main" noGrp="1"/>
          </p:cNvSpPr>
          <p:nvPr/>
        </p:nvSpPr>
        <p:spPr>
          <a:xfrm xmlns:a="http://schemas.openxmlformats.org/drawingml/2006/main">
            <a:off x="1114425" y="174307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65D6D1"/>
                </a:solidFill>
              </a:defRPr>
            </a:defPPr>
            <a:lvl1pPr>
              <a:defRPr sz="1800" b="1">
                <a:solidFill>
                  <a:srgbClr val="65D6D1"/>
                </a:solidFill>
              </a:defRPr>
            </a:lvl1pPr>
            <a:lvl2pPr>
              <a:defRPr sz="1800" b="1">
                <a:solidFill>
                  <a:srgbClr val="65D6D1"/>
                </a:solidFill>
              </a:defRPr>
            </a:lvl2pPr>
            <a:lvl3pPr>
              <a:defRPr sz="1800" b="1">
                <a:solidFill>
                  <a:srgbClr val="65D6D1"/>
                </a:solidFill>
              </a:defRPr>
            </a:lvl3pPr>
            <a:lvl4pPr>
              <a:defRPr sz="1800" b="1">
                <a:solidFill>
                  <a:srgbClr val="65D6D1"/>
                </a:solidFill>
              </a:defRPr>
            </a:lvl4pPr>
            <a:lvl5pPr>
              <a:defRPr sz="1800" b="1">
                <a:solidFill>
                  <a:srgbClr val="65D6D1"/>
                </a:solidFill>
              </a:defRPr>
            </a:lvl5pPr>
            <a:lvl6pPr>
              <a:defRPr sz="1800" b="1">
                <a:solidFill>
                  <a:srgbClr val="65D6D1"/>
                </a:solidFill>
              </a:defRPr>
            </a:lvl6pPr>
            <a:lvl7pPr>
              <a:defRPr sz="1800" b="1">
                <a:solidFill>
                  <a:srgbClr val="65D6D1"/>
                </a:solidFill>
              </a:defRPr>
            </a:lvl7pPr>
            <a:lvl8pPr>
              <a:defRPr sz="1800" b="1">
                <a:solidFill>
                  <a:srgbClr val="65D6D1"/>
                </a:solidFill>
              </a:defRPr>
            </a:lvl8pPr>
            <a:lvl9pPr>
              <a:defRPr sz="1800" b="1">
                <a:solidFill>
                  <a:srgbClr val="65D6D1"/>
                </a:solidFill>
              </a:defRPr>
            </a:lvl9pPr>
          </a:lstStyle>
          <a:p xmlns:a="http://schemas.openxmlformats.org/drawingml/2006/main">
            <a:pPr>
              <a:defRPr sz="1800" b="1">
                <a:solidFill>
                  <a:srgbClr val="65D6D1"/>
                </a:solidFill>
              </a:defRPr>
            </a:pPr>
            <a:r>
              <a:rPr sz="1800" b="1">
                <a:solidFill>
                  <a:srgbClr val="65D6D1"/>
                </a:solidFill>
              </a:rPr>
              <a:t>1</a:t>
            </a:r>
          </a:p>
        </p:txBody>
      </p:sp>
      <p:sp>
        <p:nvSpPr>
          <p:cNvPr id="7" name="">
            <a:extLst xmlns:a="http://schemas.openxmlformats.org/drawingml/2006/main">
              <a:ext uri="{FF2B5EF4-FFF2-40B4-BE49-F238E27FC236}">
                <a16:creationId xmlns:a16="http://schemas.microsoft.com/office/drawing/2014/main" id="{48A866A4-4CB5-40E8-B3A3-EC489186B28B}"/>
              </a:ext>
            </a:extLst>
          </p:cNvPr>
          <p:cNvSpPr>
            <a:spLocks xmlns:a="http://schemas.openxmlformats.org/drawingml/2006/main" noGrp="1"/>
          </p:cNvSpPr>
          <p:nvPr/>
        </p:nvSpPr>
        <p:spPr>
          <a:xfrm xmlns:a="http://schemas.openxmlformats.org/drawingml/2006/main">
            <a:off x="1790700" y="16954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4F7F8"/>
                </a:solidFill>
              </a:defRPr>
            </a:defPPr>
            <a:lvl1pPr>
              <a:defRPr sz="1650" b="1">
                <a:solidFill>
                  <a:srgbClr val="F4F7F8"/>
                </a:solidFill>
              </a:defRPr>
            </a:lvl1pPr>
            <a:lvl2pPr>
              <a:defRPr sz="1650" b="1">
                <a:solidFill>
                  <a:srgbClr val="F4F7F8"/>
                </a:solidFill>
              </a:defRPr>
            </a:lvl2pPr>
            <a:lvl3pPr>
              <a:defRPr sz="1650" b="1">
                <a:solidFill>
                  <a:srgbClr val="F4F7F8"/>
                </a:solidFill>
              </a:defRPr>
            </a:lvl3pPr>
            <a:lvl4pPr>
              <a:defRPr sz="1650" b="1">
                <a:solidFill>
                  <a:srgbClr val="F4F7F8"/>
                </a:solidFill>
              </a:defRPr>
            </a:lvl4pPr>
            <a:lvl5pPr>
              <a:defRPr sz="1650" b="1">
                <a:solidFill>
                  <a:srgbClr val="F4F7F8"/>
                </a:solidFill>
              </a:defRPr>
            </a:lvl5pPr>
            <a:lvl6pPr>
              <a:defRPr sz="1650" b="1">
                <a:solidFill>
                  <a:srgbClr val="F4F7F8"/>
                </a:solidFill>
              </a:defRPr>
            </a:lvl6pPr>
            <a:lvl7pPr>
              <a:defRPr sz="1650" b="1">
                <a:solidFill>
                  <a:srgbClr val="F4F7F8"/>
                </a:solidFill>
              </a:defRPr>
            </a:lvl7pPr>
            <a:lvl8pPr>
              <a:defRPr sz="1650" b="1">
                <a:solidFill>
                  <a:srgbClr val="F4F7F8"/>
                </a:solidFill>
              </a:defRPr>
            </a:lvl8pPr>
            <a:lvl9pPr>
              <a:defRPr sz="1650" b="1">
                <a:solidFill>
                  <a:srgbClr val="F4F7F8"/>
                </a:solidFill>
              </a:defRPr>
            </a:lvl9pPr>
          </a:lstStyle>
          <a:p xmlns:a="http://schemas.openxmlformats.org/drawingml/2006/main">
            <a:pPr>
              <a:defRPr sz="1650" b="1">
                <a:solidFill>
                  <a:srgbClr val="F4F7F8"/>
                </a:solidFill>
              </a:defRPr>
            </a:pPr>
            <a:r>
              <a:rPr sz="1650" b="1">
                <a:solidFill>
                  <a:srgbClr val="F4F7F8"/>
                </a:solidFill>
              </a:rPr>
              <a:t>Start API</a:t>
            </a:r>
          </a:p>
        </p:txBody>
      </p:sp>
      <p:sp>
        <p:nvSpPr>
          <p:cNvPr id="8" name="">
            <a:extLst xmlns:a="http://schemas.openxmlformats.org/drawingml/2006/main">
              <a:ext uri="{FF2B5EF4-FFF2-40B4-BE49-F238E27FC236}">
                <a16:creationId xmlns:a16="http://schemas.microsoft.com/office/drawing/2014/main" id="{A58DBB58-6BC2-47E7-8311-E71F07B4CE75}"/>
              </a:ext>
            </a:extLst>
          </p:cNvPr>
          <p:cNvSpPr>
            <a:spLocks xmlns:a="http://schemas.openxmlformats.org/drawingml/2006/main" noGrp="1"/>
          </p:cNvSpPr>
          <p:nvPr/>
        </p:nvSpPr>
        <p:spPr>
          <a:xfrm xmlns:a="http://schemas.openxmlformats.org/drawingml/2006/main">
            <a:off x="4857750" y="169545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A8BBC5"/>
                </a:solidFill>
              </a:defRPr>
            </a:defPPr>
            <a:lvl1pPr>
              <a:defRPr sz="1500" b="0">
                <a:solidFill>
                  <a:srgbClr val="A8BBC5"/>
                </a:solidFill>
              </a:defRPr>
            </a:lvl1pPr>
            <a:lvl2pPr>
              <a:defRPr sz="1500" b="0">
                <a:solidFill>
                  <a:srgbClr val="A8BBC5"/>
                </a:solidFill>
              </a:defRPr>
            </a:lvl2pPr>
            <a:lvl3pPr>
              <a:defRPr sz="1500" b="0">
                <a:solidFill>
                  <a:srgbClr val="A8BBC5"/>
                </a:solidFill>
              </a:defRPr>
            </a:lvl3pPr>
            <a:lvl4pPr>
              <a:defRPr sz="1500" b="0">
                <a:solidFill>
                  <a:srgbClr val="A8BBC5"/>
                </a:solidFill>
              </a:defRPr>
            </a:lvl4pPr>
            <a:lvl5pPr>
              <a:defRPr sz="1500" b="0">
                <a:solidFill>
                  <a:srgbClr val="A8BBC5"/>
                </a:solidFill>
              </a:defRPr>
            </a:lvl5pPr>
            <a:lvl6pPr>
              <a:defRPr sz="1500" b="0">
                <a:solidFill>
                  <a:srgbClr val="A8BBC5"/>
                </a:solidFill>
              </a:defRPr>
            </a:lvl6pPr>
            <a:lvl7pPr>
              <a:defRPr sz="1500" b="0">
                <a:solidFill>
                  <a:srgbClr val="A8BBC5"/>
                </a:solidFill>
              </a:defRPr>
            </a:lvl7pPr>
            <a:lvl8pPr>
              <a:defRPr sz="1500" b="0">
                <a:solidFill>
                  <a:srgbClr val="A8BBC5"/>
                </a:solidFill>
              </a:defRPr>
            </a:lvl8pPr>
            <a:lvl9pPr>
              <a:defRPr sz="1500" b="0">
                <a:solidFill>
                  <a:srgbClr val="A8BBC5"/>
                </a:solidFill>
              </a:defRPr>
            </a:lvl9pPr>
          </a:lstStyle>
          <a:p xmlns:a="http://schemas.openxmlformats.org/drawingml/2006/main">
            <a:pPr>
              <a:defRPr sz="1500" b="0">
                <a:solidFill>
                  <a:srgbClr val="A8BBC5"/>
                </a:solidFill>
              </a:defRPr>
            </a:pPr>
            <a:r>
              <a:rPr sz="1500" b="0">
                <a:solidFill>
                  <a:srgbClr val="A8BBC5"/>
                </a:solidFill>
              </a:rPr>
              <a:t>uvicorn main:app</a:t>
            </a:r>
          </a:p>
        </p:txBody>
      </p:sp>
      <p:sp>
        <p:nvSpPr>
          <p:cNvPr id="9" name="">
            <a:extLst xmlns:a="http://schemas.openxmlformats.org/drawingml/2006/main">
              <a:ext uri="{FF2B5EF4-FFF2-40B4-BE49-F238E27FC236}">
                <a16:creationId xmlns:a16="http://schemas.microsoft.com/office/drawing/2014/main" id="{5A8A00AE-3827-4659-B3DD-03AF75F4B200}"/>
              </a:ext>
            </a:extLst>
          </p:cNvPr>
          <p:cNvSpPr>
            <a:spLocks xmlns:a="http://schemas.openxmlformats.org/drawingml/2006/main" noGrp="1"/>
          </p:cNvSpPr>
          <p:nvPr/>
        </p:nvSpPr>
        <p:spPr>
          <a:xfrm xmlns:a="http://schemas.openxmlformats.org/drawingml/2006/main">
            <a:off x="952500" y="2552700"/>
            <a:ext cx="533400" cy="533400"/>
          </a:xfrm>
          <a:prstGeom xmlns:a="http://schemas.openxmlformats.org/drawingml/2006/main" prst="roundRect">
            <a:avLst>
              <a:gd name="adj" fmla="val 14286"/>
            </a:avLst>
          </a:prstGeom>
          <a:solidFill xmlns:a="http://schemas.openxmlformats.org/drawingml/2006/main">
            <a:srgbClr val="10243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B288335-AE5A-4D98-94C4-ADCBCF3CD7CE}"/>
              </a:ext>
            </a:extLst>
          </p:cNvPr>
          <p:cNvSpPr>
            <a:spLocks xmlns:a="http://schemas.openxmlformats.org/drawingml/2006/main" noGrp="1"/>
          </p:cNvSpPr>
          <p:nvPr/>
        </p:nvSpPr>
        <p:spPr>
          <a:xfrm xmlns:a="http://schemas.openxmlformats.org/drawingml/2006/main">
            <a:off x="1114425" y="26003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65D6D1"/>
                </a:solidFill>
              </a:defRPr>
            </a:defPPr>
            <a:lvl1pPr>
              <a:defRPr sz="1800" b="1">
                <a:solidFill>
                  <a:srgbClr val="65D6D1"/>
                </a:solidFill>
              </a:defRPr>
            </a:lvl1pPr>
            <a:lvl2pPr>
              <a:defRPr sz="1800" b="1">
                <a:solidFill>
                  <a:srgbClr val="65D6D1"/>
                </a:solidFill>
              </a:defRPr>
            </a:lvl2pPr>
            <a:lvl3pPr>
              <a:defRPr sz="1800" b="1">
                <a:solidFill>
                  <a:srgbClr val="65D6D1"/>
                </a:solidFill>
              </a:defRPr>
            </a:lvl3pPr>
            <a:lvl4pPr>
              <a:defRPr sz="1800" b="1">
                <a:solidFill>
                  <a:srgbClr val="65D6D1"/>
                </a:solidFill>
              </a:defRPr>
            </a:lvl4pPr>
            <a:lvl5pPr>
              <a:defRPr sz="1800" b="1">
                <a:solidFill>
                  <a:srgbClr val="65D6D1"/>
                </a:solidFill>
              </a:defRPr>
            </a:lvl5pPr>
            <a:lvl6pPr>
              <a:defRPr sz="1800" b="1">
                <a:solidFill>
                  <a:srgbClr val="65D6D1"/>
                </a:solidFill>
              </a:defRPr>
            </a:lvl6pPr>
            <a:lvl7pPr>
              <a:defRPr sz="1800" b="1">
                <a:solidFill>
                  <a:srgbClr val="65D6D1"/>
                </a:solidFill>
              </a:defRPr>
            </a:lvl7pPr>
            <a:lvl8pPr>
              <a:defRPr sz="1800" b="1">
                <a:solidFill>
                  <a:srgbClr val="65D6D1"/>
                </a:solidFill>
              </a:defRPr>
            </a:lvl8pPr>
            <a:lvl9pPr>
              <a:defRPr sz="1800" b="1">
                <a:solidFill>
                  <a:srgbClr val="65D6D1"/>
                </a:solidFill>
              </a:defRPr>
            </a:lvl9pPr>
          </a:lstStyle>
          <a:p xmlns:a="http://schemas.openxmlformats.org/drawingml/2006/main">
            <a:pPr>
              <a:defRPr sz="1800" b="1">
                <a:solidFill>
                  <a:srgbClr val="65D6D1"/>
                </a:solidFill>
              </a:defRPr>
            </a:pPr>
            <a:r>
              <a:rPr sz="1800" b="1">
                <a:solidFill>
                  <a:srgbClr val="65D6D1"/>
                </a:solidFill>
              </a:rPr>
              <a:t>2</a:t>
            </a:r>
          </a:p>
        </p:txBody>
      </p:sp>
      <p:sp>
        <p:nvSpPr>
          <p:cNvPr id="11" name="">
            <a:extLst xmlns:a="http://schemas.openxmlformats.org/drawingml/2006/main">
              <a:ext uri="{FF2B5EF4-FFF2-40B4-BE49-F238E27FC236}">
                <a16:creationId xmlns:a16="http://schemas.microsoft.com/office/drawing/2014/main" id="{0B858D93-A2B3-41C7-ACFF-B64BF22FA2B1}"/>
              </a:ext>
            </a:extLst>
          </p:cNvPr>
          <p:cNvSpPr>
            <a:spLocks xmlns:a="http://schemas.openxmlformats.org/drawingml/2006/main" noGrp="1"/>
          </p:cNvSpPr>
          <p:nvPr/>
        </p:nvSpPr>
        <p:spPr>
          <a:xfrm xmlns:a="http://schemas.openxmlformats.org/drawingml/2006/main">
            <a:off x="1790700" y="25527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4F7F8"/>
                </a:solidFill>
              </a:defRPr>
            </a:defPPr>
            <a:lvl1pPr>
              <a:defRPr sz="1650" b="1">
                <a:solidFill>
                  <a:srgbClr val="F4F7F8"/>
                </a:solidFill>
              </a:defRPr>
            </a:lvl1pPr>
            <a:lvl2pPr>
              <a:defRPr sz="1650" b="1">
                <a:solidFill>
                  <a:srgbClr val="F4F7F8"/>
                </a:solidFill>
              </a:defRPr>
            </a:lvl2pPr>
            <a:lvl3pPr>
              <a:defRPr sz="1650" b="1">
                <a:solidFill>
                  <a:srgbClr val="F4F7F8"/>
                </a:solidFill>
              </a:defRPr>
            </a:lvl3pPr>
            <a:lvl4pPr>
              <a:defRPr sz="1650" b="1">
                <a:solidFill>
                  <a:srgbClr val="F4F7F8"/>
                </a:solidFill>
              </a:defRPr>
            </a:lvl4pPr>
            <a:lvl5pPr>
              <a:defRPr sz="1650" b="1">
                <a:solidFill>
                  <a:srgbClr val="F4F7F8"/>
                </a:solidFill>
              </a:defRPr>
            </a:lvl5pPr>
            <a:lvl6pPr>
              <a:defRPr sz="1650" b="1">
                <a:solidFill>
                  <a:srgbClr val="F4F7F8"/>
                </a:solidFill>
              </a:defRPr>
            </a:lvl6pPr>
            <a:lvl7pPr>
              <a:defRPr sz="1650" b="1">
                <a:solidFill>
                  <a:srgbClr val="F4F7F8"/>
                </a:solidFill>
              </a:defRPr>
            </a:lvl7pPr>
            <a:lvl8pPr>
              <a:defRPr sz="1650" b="1">
                <a:solidFill>
                  <a:srgbClr val="F4F7F8"/>
                </a:solidFill>
              </a:defRPr>
            </a:lvl8pPr>
            <a:lvl9pPr>
              <a:defRPr sz="1650" b="1">
                <a:solidFill>
                  <a:srgbClr val="F4F7F8"/>
                </a:solidFill>
              </a:defRPr>
            </a:lvl9pPr>
          </a:lstStyle>
          <a:p xmlns:a="http://schemas.openxmlformats.org/drawingml/2006/main">
            <a:pPr>
              <a:defRPr sz="1650" b="1">
                <a:solidFill>
                  <a:srgbClr val="F4F7F8"/>
                </a:solidFill>
              </a:defRPr>
            </a:pPr>
            <a:r>
              <a:rPr sz="1650" b="1">
                <a:solidFill>
                  <a:srgbClr val="F4F7F8"/>
                </a:solidFill>
              </a:rPr>
              <a:t>Open dashboard</a:t>
            </a:r>
          </a:p>
        </p:txBody>
      </p:sp>
      <p:sp>
        <p:nvSpPr>
          <p:cNvPr id="12" name="">
            <a:extLst xmlns:a="http://schemas.openxmlformats.org/drawingml/2006/main">
              <a:ext uri="{FF2B5EF4-FFF2-40B4-BE49-F238E27FC236}">
                <a16:creationId xmlns:a16="http://schemas.microsoft.com/office/drawing/2014/main" id="{B0C1B598-661C-4140-9E36-11246A5F1EBD}"/>
              </a:ext>
            </a:extLst>
          </p:cNvPr>
          <p:cNvSpPr>
            <a:spLocks xmlns:a="http://schemas.openxmlformats.org/drawingml/2006/main" noGrp="1"/>
          </p:cNvSpPr>
          <p:nvPr/>
        </p:nvSpPr>
        <p:spPr>
          <a:xfrm xmlns:a="http://schemas.openxmlformats.org/drawingml/2006/main">
            <a:off x="4857750" y="255270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A8BBC5"/>
                </a:solidFill>
              </a:defRPr>
            </a:defPPr>
            <a:lvl1pPr>
              <a:defRPr sz="1500" b="0">
                <a:solidFill>
                  <a:srgbClr val="A8BBC5"/>
                </a:solidFill>
              </a:defRPr>
            </a:lvl1pPr>
            <a:lvl2pPr>
              <a:defRPr sz="1500" b="0">
                <a:solidFill>
                  <a:srgbClr val="A8BBC5"/>
                </a:solidFill>
              </a:defRPr>
            </a:lvl2pPr>
            <a:lvl3pPr>
              <a:defRPr sz="1500" b="0">
                <a:solidFill>
                  <a:srgbClr val="A8BBC5"/>
                </a:solidFill>
              </a:defRPr>
            </a:lvl3pPr>
            <a:lvl4pPr>
              <a:defRPr sz="1500" b="0">
                <a:solidFill>
                  <a:srgbClr val="A8BBC5"/>
                </a:solidFill>
              </a:defRPr>
            </a:lvl4pPr>
            <a:lvl5pPr>
              <a:defRPr sz="1500" b="0">
                <a:solidFill>
                  <a:srgbClr val="A8BBC5"/>
                </a:solidFill>
              </a:defRPr>
            </a:lvl5pPr>
            <a:lvl6pPr>
              <a:defRPr sz="1500" b="0">
                <a:solidFill>
                  <a:srgbClr val="A8BBC5"/>
                </a:solidFill>
              </a:defRPr>
            </a:lvl6pPr>
            <a:lvl7pPr>
              <a:defRPr sz="1500" b="0">
                <a:solidFill>
                  <a:srgbClr val="A8BBC5"/>
                </a:solidFill>
              </a:defRPr>
            </a:lvl7pPr>
            <a:lvl8pPr>
              <a:defRPr sz="1500" b="0">
                <a:solidFill>
                  <a:srgbClr val="A8BBC5"/>
                </a:solidFill>
              </a:defRPr>
            </a:lvl8pPr>
            <a:lvl9pPr>
              <a:defRPr sz="1500" b="0">
                <a:solidFill>
                  <a:srgbClr val="A8BBC5"/>
                </a:solidFill>
              </a:defRPr>
            </a:lvl9pPr>
          </a:lstStyle>
          <a:p xmlns:a="http://schemas.openxmlformats.org/drawingml/2006/main">
            <a:pPr>
              <a:defRPr sz="1500" b="0">
                <a:solidFill>
                  <a:srgbClr val="A8BBC5"/>
                </a:solidFill>
              </a:defRPr>
            </a:pPr>
            <a:r>
              <a:rPr sz="1500" b="0">
                <a:solidFill>
                  <a:srgbClr val="A8BBC5"/>
                </a:solidFill>
              </a:rPr>
              <a:t>localhost:8000</a:t>
            </a:r>
          </a:p>
        </p:txBody>
      </p:sp>
      <p:sp>
        <p:nvSpPr>
          <p:cNvPr id="13" name="">
            <a:extLst xmlns:a="http://schemas.openxmlformats.org/drawingml/2006/main">
              <a:ext uri="{FF2B5EF4-FFF2-40B4-BE49-F238E27FC236}">
                <a16:creationId xmlns:a16="http://schemas.microsoft.com/office/drawing/2014/main" id="{CBA9AC6B-5B0C-4E74-AA34-A6D7C4FEB92F}"/>
              </a:ext>
            </a:extLst>
          </p:cNvPr>
          <p:cNvSpPr>
            <a:spLocks xmlns:a="http://schemas.openxmlformats.org/drawingml/2006/main" noGrp="1"/>
          </p:cNvSpPr>
          <p:nvPr/>
        </p:nvSpPr>
        <p:spPr>
          <a:xfrm xmlns:a="http://schemas.openxmlformats.org/drawingml/2006/main">
            <a:off x="952500" y="3409950"/>
            <a:ext cx="533400" cy="533400"/>
          </a:xfrm>
          <a:prstGeom xmlns:a="http://schemas.openxmlformats.org/drawingml/2006/main" prst="roundRect">
            <a:avLst>
              <a:gd name="adj" fmla="val 14286"/>
            </a:avLst>
          </a:prstGeom>
          <a:solidFill xmlns:a="http://schemas.openxmlformats.org/drawingml/2006/main">
            <a:srgbClr val="10243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ACF4B59-8D3D-40C7-91B5-035028B674B3}"/>
              </a:ext>
            </a:extLst>
          </p:cNvPr>
          <p:cNvSpPr>
            <a:spLocks xmlns:a="http://schemas.openxmlformats.org/drawingml/2006/main" noGrp="1"/>
          </p:cNvSpPr>
          <p:nvPr/>
        </p:nvSpPr>
        <p:spPr>
          <a:xfrm xmlns:a="http://schemas.openxmlformats.org/drawingml/2006/main">
            <a:off x="1114425" y="345757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65D6D1"/>
                </a:solidFill>
              </a:defRPr>
            </a:defPPr>
            <a:lvl1pPr>
              <a:defRPr sz="1800" b="1">
                <a:solidFill>
                  <a:srgbClr val="65D6D1"/>
                </a:solidFill>
              </a:defRPr>
            </a:lvl1pPr>
            <a:lvl2pPr>
              <a:defRPr sz="1800" b="1">
                <a:solidFill>
                  <a:srgbClr val="65D6D1"/>
                </a:solidFill>
              </a:defRPr>
            </a:lvl2pPr>
            <a:lvl3pPr>
              <a:defRPr sz="1800" b="1">
                <a:solidFill>
                  <a:srgbClr val="65D6D1"/>
                </a:solidFill>
              </a:defRPr>
            </a:lvl3pPr>
            <a:lvl4pPr>
              <a:defRPr sz="1800" b="1">
                <a:solidFill>
                  <a:srgbClr val="65D6D1"/>
                </a:solidFill>
              </a:defRPr>
            </a:lvl4pPr>
            <a:lvl5pPr>
              <a:defRPr sz="1800" b="1">
                <a:solidFill>
                  <a:srgbClr val="65D6D1"/>
                </a:solidFill>
              </a:defRPr>
            </a:lvl5pPr>
            <a:lvl6pPr>
              <a:defRPr sz="1800" b="1">
                <a:solidFill>
                  <a:srgbClr val="65D6D1"/>
                </a:solidFill>
              </a:defRPr>
            </a:lvl6pPr>
            <a:lvl7pPr>
              <a:defRPr sz="1800" b="1">
                <a:solidFill>
                  <a:srgbClr val="65D6D1"/>
                </a:solidFill>
              </a:defRPr>
            </a:lvl7pPr>
            <a:lvl8pPr>
              <a:defRPr sz="1800" b="1">
                <a:solidFill>
                  <a:srgbClr val="65D6D1"/>
                </a:solidFill>
              </a:defRPr>
            </a:lvl8pPr>
            <a:lvl9pPr>
              <a:defRPr sz="1800" b="1">
                <a:solidFill>
                  <a:srgbClr val="65D6D1"/>
                </a:solidFill>
              </a:defRPr>
            </a:lvl9pPr>
          </a:lstStyle>
          <a:p xmlns:a="http://schemas.openxmlformats.org/drawingml/2006/main">
            <a:pPr>
              <a:defRPr sz="1800" b="1">
                <a:solidFill>
                  <a:srgbClr val="65D6D1"/>
                </a:solidFill>
              </a:defRPr>
            </a:pPr>
            <a:r>
              <a:rPr sz="1800" b="1">
                <a:solidFill>
                  <a:srgbClr val="65D6D1"/>
                </a:solidFill>
              </a:rPr>
              <a:t>3</a:t>
            </a:r>
          </a:p>
        </p:txBody>
      </p:sp>
      <p:sp>
        <p:nvSpPr>
          <p:cNvPr id="15" name="">
            <a:extLst xmlns:a="http://schemas.openxmlformats.org/drawingml/2006/main">
              <a:ext uri="{FF2B5EF4-FFF2-40B4-BE49-F238E27FC236}">
                <a16:creationId xmlns:a16="http://schemas.microsoft.com/office/drawing/2014/main" id="{560FC0EF-63B7-4919-98F5-D081CC182090}"/>
              </a:ext>
            </a:extLst>
          </p:cNvPr>
          <p:cNvSpPr>
            <a:spLocks xmlns:a="http://schemas.openxmlformats.org/drawingml/2006/main" noGrp="1"/>
          </p:cNvSpPr>
          <p:nvPr/>
        </p:nvSpPr>
        <p:spPr>
          <a:xfrm xmlns:a="http://schemas.openxmlformats.org/drawingml/2006/main">
            <a:off x="1790700" y="3409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4F7F8"/>
                </a:solidFill>
              </a:defRPr>
            </a:defPPr>
            <a:lvl1pPr>
              <a:defRPr sz="1650" b="1">
                <a:solidFill>
                  <a:srgbClr val="F4F7F8"/>
                </a:solidFill>
              </a:defRPr>
            </a:lvl1pPr>
            <a:lvl2pPr>
              <a:defRPr sz="1650" b="1">
                <a:solidFill>
                  <a:srgbClr val="F4F7F8"/>
                </a:solidFill>
              </a:defRPr>
            </a:lvl2pPr>
            <a:lvl3pPr>
              <a:defRPr sz="1650" b="1">
                <a:solidFill>
                  <a:srgbClr val="F4F7F8"/>
                </a:solidFill>
              </a:defRPr>
            </a:lvl3pPr>
            <a:lvl4pPr>
              <a:defRPr sz="1650" b="1">
                <a:solidFill>
                  <a:srgbClr val="F4F7F8"/>
                </a:solidFill>
              </a:defRPr>
            </a:lvl4pPr>
            <a:lvl5pPr>
              <a:defRPr sz="1650" b="1">
                <a:solidFill>
                  <a:srgbClr val="F4F7F8"/>
                </a:solidFill>
              </a:defRPr>
            </a:lvl5pPr>
            <a:lvl6pPr>
              <a:defRPr sz="1650" b="1">
                <a:solidFill>
                  <a:srgbClr val="F4F7F8"/>
                </a:solidFill>
              </a:defRPr>
            </a:lvl6pPr>
            <a:lvl7pPr>
              <a:defRPr sz="1650" b="1">
                <a:solidFill>
                  <a:srgbClr val="F4F7F8"/>
                </a:solidFill>
              </a:defRPr>
            </a:lvl7pPr>
            <a:lvl8pPr>
              <a:defRPr sz="1650" b="1">
                <a:solidFill>
                  <a:srgbClr val="F4F7F8"/>
                </a:solidFill>
              </a:defRPr>
            </a:lvl8pPr>
            <a:lvl9pPr>
              <a:defRPr sz="1650" b="1">
                <a:solidFill>
                  <a:srgbClr val="F4F7F8"/>
                </a:solidFill>
              </a:defRPr>
            </a:lvl9pPr>
          </a:lstStyle>
          <a:p xmlns:a="http://schemas.openxmlformats.org/drawingml/2006/main">
            <a:pPr>
              <a:defRPr sz="1650" b="1">
                <a:solidFill>
                  <a:srgbClr val="F4F7F8"/>
                </a:solidFill>
              </a:defRPr>
            </a:pPr>
            <a:r>
              <a:rPr sz="1650" b="1">
                <a:solidFill>
                  <a:srgbClr val="F4F7F8"/>
                </a:solidFill>
              </a:rPr>
              <a:t>Choose data</a:t>
            </a:r>
          </a:p>
        </p:txBody>
      </p:sp>
      <p:sp>
        <p:nvSpPr>
          <p:cNvPr id="16" name="">
            <a:extLst xmlns:a="http://schemas.openxmlformats.org/drawingml/2006/main">
              <a:ext uri="{FF2B5EF4-FFF2-40B4-BE49-F238E27FC236}">
                <a16:creationId xmlns:a16="http://schemas.microsoft.com/office/drawing/2014/main" id="{5D2508E0-0363-40CF-85C2-7234F39DDBA4}"/>
              </a:ext>
            </a:extLst>
          </p:cNvPr>
          <p:cNvSpPr>
            <a:spLocks xmlns:a="http://schemas.openxmlformats.org/drawingml/2006/main" noGrp="1"/>
          </p:cNvSpPr>
          <p:nvPr/>
        </p:nvSpPr>
        <p:spPr>
          <a:xfrm xmlns:a="http://schemas.openxmlformats.org/drawingml/2006/main">
            <a:off x="4857750" y="340995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A8BBC5"/>
                </a:solidFill>
              </a:defRPr>
            </a:defPPr>
            <a:lvl1pPr>
              <a:defRPr sz="1500" b="0">
                <a:solidFill>
                  <a:srgbClr val="A8BBC5"/>
                </a:solidFill>
              </a:defRPr>
            </a:lvl1pPr>
            <a:lvl2pPr>
              <a:defRPr sz="1500" b="0">
                <a:solidFill>
                  <a:srgbClr val="A8BBC5"/>
                </a:solidFill>
              </a:defRPr>
            </a:lvl2pPr>
            <a:lvl3pPr>
              <a:defRPr sz="1500" b="0">
                <a:solidFill>
                  <a:srgbClr val="A8BBC5"/>
                </a:solidFill>
              </a:defRPr>
            </a:lvl3pPr>
            <a:lvl4pPr>
              <a:defRPr sz="1500" b="0">
                <a:solidFill>
                  <a:srgbClr val="A8BBC5"/>
                </a:solidFill>
              </a:defRPr>
            </a:lvl4pPr>
            <a:lvl5pPr>
              <a:defRPr sz="1500" b="0">
                <a:solidFill>
                  <a:srgbClr val="A8BBC5"/>
                </a:solidFill>
              </a:defRPr>
            </a:lvl5pPr>
            <a:lvl6pPr>
              <a:defRPr sz="1500" b="0">
                <a:solidFill>
                  <a:srgbClr val="A8BBC5"/>
                </a:solidFill>
              </a:defRPr>
            </a:lvl6pPr>
            <a:lvl7pPr>
              <a:defRPr sz="1500" b="0">
                <a:solidFill>
                  <a:srgbClr val="A8BBC5"/>
                </a:solidFill>
              </a:defRPr>
            </a:lvl7pPr>
            <a:lvl8pPr>
              <a:defRPr sz="1500" b="0">
                <a:solidFill>
                  <a:srgbClr val="A8BBC5"/>
                </a:solidFill>
              </a:defRPr>
            </a:lvl8pPr>
            <a:lvl9pPr>
              <a:defRPr sz="1500" b="0">
                <a:solidFill>
                  <a:srgbClr val="A8BBC5"/>
                </a:solidFill>
              </a:defRPr>
            </a:lvl9pPr>
          </a:lstStyle>
          <a:p xmlns:a="http://schemas.openxmlformats.org/drawingml/2006/main">
            <a:pPr>
              <a:defRPr sz="1500" b="0">
                <a:solidFill>
                  <a:srgbClr val="A8BBC5"/>
                </a:solidFill>
              </a:defRPr>
            </a:pPr>
            <a:r>
              <a:rPr sz="1500" b="0">
                <a:solidFill>
                  <a:srgbClr val="A8BBC5"/>
                </a:solidFill>
              </a:rPr>
              <a:t>Sample or city search</a:t>
            </a:r>
          </a:p>
        </p:txBody>
      </p:sp>
      <p:sp>
        <p:nvSpPr>
          <p:cNvPr id="17" name="">
            <a:extLst xmlns:a="http://schemas.openxmlformats.org/drawingml/2006/main">
              <a:ext uri="{FF2B5EF4-FFF2-40B4-BE49-F238E27FC236}">
                <a16:creationId xmlns:a16="http://schemas.microsoft.com/office/drawing/2014/main" id="{56B8812B-4852-4E30-A1A0-3500F5601A67}"/>
              </a:ext>
            </a:extLst>
          </p:cNvPr>
          <p:cNvSpPr>
            <a:spLocks xmlns:a="http://schemas.openxmlformats.org/drawingml/2006/main" noGrp="1"/>
          </p:cNvSpPr>
          <p:nvPr/>
        </p:nvSpPr>
        <p:spPr>
          <a:xfrm xmlns:a="http://schemas.openxmlformats.org/drawingml/2006/main">
            <a:off x="952500" y="4267200"/>
            <a:ext cx="533400" cy="533400"/>
          </a:xfrm>
          <a:prstGeom xmlns:a="http://schemas.openxmlformats.org/drawingml/2006/main" prst="roundRect">
            <a:avLst>
              <a:gd name="adj" fmla="val 14286"/>
            </a:avLst>
          </a:prstGeom>
          <a:solidFill xmlns:a="http://schemas.openxmlformats.org/drawingml/2006/main">
            <a:srgbClr val="10243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B005A9E-786F-4578-8A91-846AD37DFA8A}"/>
              </a:ext>
            </a:extLst>
          </p:cNvPr>
          <p:cNvSpPr>
            <a:spLocks xmlns:a="http://schemas.openxmlformats.org/drawingml/2006/main" noGrp="1"/>
          </p:cNvSpPr>
          <p:nvPr/>
        </p:nvSpPr>
        <p:spPr>
          <a:xfrm xmlns:a="http://schemas.openxmlformats.org/drawingml/2006/main">
            <a:off x="1114425" y="43148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65D6D1"/>
                </a:solidFill>
              </a:defRPr>
            </a:defPPr>
            <a:lvl1pPr>
              <a:defRPr sz="1800" b="1">
                <a:solidFill>
                  <a:srgbClr val="65D6D1"/>
                </a:solidFill>
              </a:defRPr>
            </a:lvl1pPr>
            <a:lvl2pPr>
              <a:defRPr sz="1800" b="1">
                <a:solidFill>
                  <a:srgbClr val="65D6D1"/>
                </a:solidFill>
              </a:defRPr>
            </a:lvl2pPr>
            <a:lvl3pPr>
              <a:defRPr sz="1800" b="1">
                <a:solidFill>
                  <a:srgbClr val="65D6D1"/>
                </a:solidFill>
              </a:defRPr>
            </a:lvl3pPr>
            <a:lvl4pPr>
              <a:defRPr sz="1800" b="1">
                <a:solidFill>
                  <a:srgbClr val="65D6D1"/>
                </a:solidFill>
              </a:defRPr>
            </a:lvl4pPr>
            <a:lvl5pPr>
              <a:defRPr sz="1800" b="1">
                <a:solidFill>
                  <a:srgbClr val="65D6D1"/>
                </a:solidFill>
              </a:defRPr>
            </a:lvl5pPr>
            <a:lvl6pPr>
              <a:defRPr sz="1800" b="1">
                <a:solidFill>
                  <a:srgbClr val="65D6D1"/>
                </a:solidFill>
              </a:defRPr>
            </a:lvl6pPr>
            <a:lvl7pPr>
              <a:defRPr sz="1800" b="1">
                <a:solidFill>
                  <a:srgbClr val="65D6D1"/>
                </a:solidFill>
              </a:defRPr>
            </a:lvl7pPr>
            <a:lvl8pPr>
              <a:defRPr sz="1800" b="1">
                <a:solidFill>
                  <a:srgbClr val="65D6D1"/>
                </a:solidFill>
              </a:defRPr>
            </a:lvl8pPr>
            <a:lvl9pPr>
              <a:defRPr sz="1800" b="1">
                <a:solidFill>
                  <a:srgbClr val="65D6D1"/>
                </a:solidFill>
              </a:defRPr>
            </a:lvl9pPr>
          </a:lstStyle>
          <a:p xmlns:a="http://schemas.openxmlformats.org/drawingml/2006/main">
            <a:pPr>
              <a:defRPr sz="1800" b="1">
                <a:solidFill>
                  <a:srgbClr val="65D6D1"/>
                </a:solidFill>
              </a:defRPr>
            </a:pPr>
            <a:r>
              <a:rPr sz="1800" b="1">
                <a:solidFill>
                  <a:srgbClr val="65D6D1"/>
                </a:solidFill>
              </a:rPr>
              <a:t>4</a:t>
            </a:r>
          </a:p>
        </p:txBody>
      </p:sp>
      <p:sp>
        <p:nvSpPr>
          <p:cNvPr id="19" name="">
            <a:extLst xmlns:a="http://schemas.openxmlformats.org/drawingml/2006/main">
              <a:ext uri="{FF2B5EF4-FFF2-40B4-BE49-F238E27FC236}">
                <a16:creationId xmlns:a16="http://schemas.microsoft.com/office/drawing/2014/main" id="{EF6BBE34-F6C1-43DE-AE03-E8861E72405F}"/>
              </a:ext>
            </a:extLst>
          </p:cNvPr>
          <p:cNvSpPr>
            <a:spLocks xmlns:a="http://schemas.openxmlformats.org/drawingml/2006/main" noGrp="1"/>
          </p:cNvSpPr>
          <p:nvPr/>
        </p:nvSpPr>
        <p:spPr>
          <a:xfrm xmlns:a="http://schemas.openxmlformats.org/drawingml/2006/main">
            <a:off x="1790700" y="42672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4F7F8"/>
                </a:solidFill>
              </a:defRPr>
            </a:defPPr>
            <a:lvl1pPr>
              <a:defRPr sz="1650" b="1">
                <a:solidFill>
                  <a:srgbClr val="F4F7F8"/>
                </a:solidFill>
              </a:defRPr>
            </a:lvl1pPr>
            <a:lvl2pPr>
              <a:defRPr sz="1650" b="1">
                <a:solidFill>
                  <a:srgbClr val="F4F7F8"/>
                </a:solidFill>
              </a:defRPr>
            </a:lvl2pPr>
            <a:lvl3pPr>
              <a:defRPr sz="1650" b="1">
                <a:solidFill>
                  <a:srgbClr val="F4F7F8"/>
                </a:solidFill>
              </a:defRPr>
            </a:lvl3pPr>
            <a:lvl4pPr>
              <a:defRPr sz="1650" b="1">
                <a:solidFill>
                  <a:srgbClr val="F4F7F8"/>
                </a:solidFill>
              </a:defRPr>
            </a:lvl4pPr>
            <a:lvl5pPr>
              <a:defRPr sz="1650" b="1">
                <a:solidFill>
                  <a:srgbClr val="F4F7F8"/>
                </a:solidFill>
              </a:defRPr>
            </a:lvl5pPr>
            <a:lvl6pPr>
              <a:defRPr sz="1650" b="1">
                <a:solidFill>
                  <a:srgbClr val="F4F7F8"/>
                </a:solidFill>
              </a:defRPr>
            </a:lvl6pPr>
            <a:lvl7pPr>
              <a:defRPr sz="1650" b="1">
                <a:solidFill>
                  <a:srgbClr val="F4F7F8"/>
                </a:solidFill>
              </a:defRPr>
            </a:lvl7pPr>
            <a:lvl8pPr>
              <a:defRPr sz="1650" b="1">
                <a:solidFill>
                  <a:srgbClr val="F4F7F8"/>
                </a:solidFill>
              </a:defRPr>
            </a:lvl8pPr>
            <a:lvl9pPr>
              <a:defRPr sz="1650" b="1">
                <a:solidFill>
                  <a:srgbClr val="F4F7F8"/>
                </a:solidFill>
              </a:defRPr>
            </a:lvl9pPr>
          </a:lstStyle>
          <a:p xmlns:a="http://schemas.openxmlformats.org/drawingml/2006/main">
            <a:pPr>
              <a:defRPr sz="1650" b="1">
                <a:solidFill>
                  <a:srgbClr val="F4F7F8"/>
                </a:solidFill>
              </a:defRPr>
            </a:pPr>
            <a:r>
              <a:rPr sz="1650" b="1">
                <a:solidFill>
                  <a:srgbClr val="F4F7F8"/>
                </a:solidFill>
              </a:rPr>
              <a:t>Run diagnosis</a:t>
            </a:r>
          </a:p>
        </p:txBody>
      </p:sp>
      <p:sp>
        <p:nvSpPr>
          <p:cNvPr id="20" name="">
            <a:extLst xmlns:a="http://schemas.openxmlformats.org/drawingml/2006/main">
              <a:ext uri="{FF2B5EF4-FFF2-40B4-BE49-F238E27FC236}">
                <a16:creationId xmlns:a16="http://schemas.microsoft.com/office/drawing/2014/main" id="{E8BAEF53-7006-44A2-910C-A89C03383F4F}"/>
              </a:ext>
            </a:extLst>
          </p:cNvPr>
          <p:cNvSpPr>
            <a:spLocks xmlns:a="http://schemas.openxmlformats.org/drawingml/2006/main" noGrp="1"/>
          </p:cNvSpPr>
          <p:nvPr/>
        </p:nvSpPr>
        <p:spPr>
          <a:xfrm xmlns:a="http://schemas.openxmlformats.org/drawingml/2006/main">
            <a:off x="4857750" y="426720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A8BBC5"/>
                </a:solidFill>
              </a:defRPr>
            </a:defPPr>
            <a:lvl1pPr>
              <a:defRPr sz="1500" b="0">
                <a:solidFill>
                  <a:srgbClr val="A8BBC5"/>
                </a:solidFill>
              </a:defRPr>
            </a:lvl1pPr>
            <a:lvl2pPr>
              <a:defRPr sz="1500" b="0">
                <a:solidFill>
                  <a:srgbClr val="A8BBC5"/>
                </a:solidFill>
              </a:defRPr>
            </a:lvl2pPr>
            <a:lvl3pPr>
              <a:defRPr sz="1500" b="0">
                <a:solidFill>
                  <a:srgbClr val="A8BBC5"/>
                </a:solidFill>
              </a:defRPr>
            </a:lvl3pPr>
            <a:lvl4pPr>
              <a:defRPr sz="1500" b="0">
                <a:solidFill>
                  <a:srgbClr val="A8BBC5"/>
                </a:solidFill>
              </a:defRPr>
            </a:lvl4pPr>
            <a:lvl5pPr>
              <a:defRPr sz="1500" b="0">
                <a:solidFill>
                  <a:srgbClr val="A8BBC5"/>
                </a:solidFill>
              </a:defRPr>
            </a:lvl5pPr>
            <a:lvl6pPr>
              <a:defRPr sz="1500" b="0">
                <a:solidFill>
                  <a:srgbClr val="A8BBC5"/>
                </a:solidFill>
              </a:defRPr>
            </a:lvl6pPr>
            <a:lvl7pPr>
              <a:defRPr sz="1500" b="0">
                <a:solidFill>
                  <a:srgbClr val="A8BBC5"/>
                </a:solidFill>
              </a:defRPr>
            </a:lvl7pPr>
            <a:lvl8pPr>
              <a:defRPr sz="1500" b="0">
                <a:solidFill>
                  <a:srgbClr val="A8BBC5"/>
                </a:solidFill>
              </a:defRPr>
            </a:lvl8pPr>
            <a:lvl9pPr>
              <a:defRPr sz="1500" b="0">
                <a:solidFill>
                  <a:srgbClr val="A8BBC5"/>
                </a:solidFill>
              </a:defRPr>
            </a:lvl9pPr>
          </a:lstStyle>
          <a:p xmlns:a="http://schemas.openxmlformats.org/drawingml/2006/main">
            <a:pPr>
              <a:defRPr sz="1500" b="0">
                <a:solidFill>
                  <a:srgbClr val="A8BBC5"/>
                </a:solidFill>
              </a:defRPr>
            </a:pPr>
            <a:r>
              <a:rPr sz="1500" b="0">
                <a:solidFill>
                  <a:srgbClr val="A8BBC5"/>
                </a:solidFill>
              </a:rPr>
              <a:t>Review alert + healed values</a:t>
            </a:r>
          </a:p>
        </p:txBody>
      </p:sp>
      <p:sp>
        <p:nvSpPr>
          <p:cNvPr id="21" name="">
            <a:extLst xmlns:a="http://schemas.openxmlformats.org/drawingml/2006/main">
              <a:ext uri="{FF2B5EF4-FFF2-40B4-BE49-F238E27FC236}">
                <a16:creationId xmlns:a16="http://schemas.microsoft.com/office/drawing/2014/main" id="{F7DDEB36-41DF-4501-82D3-2BB459DC4BFC}"/>
              </a:ext>
            </a:extLst>
          </p:cNvPr>
          <p:cNvSpPr>
            <a:spLocks xmlns:a="http://schemas.openxmlformats.org/drawingml/2006/main" noGrp="1"/>
          </p:cNvSpPr>
          <p:nvPr/>
        </p:nvSpPr>
        <p:spPr>
          <a:xfrm xmlns:a="http://schemas.openxmlformats.org/drawingml/2006/main">
            <a:off x="952500" y="54292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3BB63"/>
                </a:solidFill>
              </a:defRPr>
            </a:defPPr>
            <a:lvl1pPr>
              <a:defRPr sz="1650" b="1">
                <a:solidFill>
                  <a:srgbClr val="F3BB63"/>
                </a:solidFill>
              </a:defRPr>
            </a:lvl1pPr>
            <a:lvl2pPr>
              <a:defRPr sz="1650" b="1">
                <a:solidFill>
                  <a:srgbClr val="F3BB63"/>
                </a:solidFill>
              </a:defRPr>
            </a:lvl2pPr>
            <a:lvl3pPr>
              <a:defRPr sz="1650" b="1">
                <a:solidFill>
                  <a:srgbClr val="F3BB63"/>
                </a:solidFill>
              </a:defRPr>
            </a:lvl3pPr>
            <a:lvl4pPr>
              <a:defRPr sz="1650" b="1">
                <a:solidFill>
                  <a:srgbClr val="F3BB63"/>
                </a:solidFill>
              </a:defRPr>
            </a:lvl4pPr>
            <a:lvl5pPr>
              <a:defRPr sz="1650" b="1">
                <a:solidFill>
                  <a:srgbClr val="F3BB63"/>
                </a:solidFill>
              </a:defRPr>
            </a:lvl5pPr>
            <a:lvl6pPr>
              <a:defRPr sz="1650" b="1">
                <a:solidFill>
                  <a:srgbClr val="F3BB63"/>
                </a:solidFill>
              </a:defRPr>
            </a:lvl6pPr>
            <a:lvl7pPr>
              <a:defRPr sz="1650" b="1">
                <a:solidFill>
                  <a:srgbClr val="F3BB63"/>
                </a:solidFill>
              </a:defRPr>
            </a:lvl7pPr>
            <a:lvl8pPr>
              <a:defRPr sz="1650" b="1">
                <a:solidFill>
                  <a:srgbClr val="F3BB63"/>
                </a:solidFill>
              </a:defRPr>
            </a:lvl8pPr>
            <a:lvl9pPr>
              <a:defRPr sz="1650" b="1">
                <a:solidFill>
                  <a:srgbClr val="F3BB63"/>
                </a:solidFill>
              </a:defRPr>
            </a:lvl9pPr>
          </a:lstStyle>
          <a:p xmlns:a="http://schemas.openxmlformats.org/drawingml/2006/main">
            <a:pPr>
              <a:defRPr sz="1650" b="1">
                <a:solidFill>
                  <a:srgbClr val="F3BB63"/>
                </a:solidFill>
              </a:defRPr>
            </a:pPr>
            <a:r>
              <a:rPr sz="1650" b="1">
                <a:solidFill>
                  <a:srgbClr val="F3BB63"/>
                </a:solidFill>
              </a:rPr>
              <a:t>SkyGuard turns a day of weather telemetry into an explainable health check.</a:t>
            </a:r>
          </a:p>
        </p:txBody>
      </p:sp>
    </p:spTree>
    <p:extLst>
      <p:ext uri="{BB962C8B-B14F-4D97-AF65-F5344CB8AC3E}">
        <p14:creationId xmlns:p14="http://schemas.microsoft.com/office/powerpoint/2010/main" val="14729580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2026-10-22T13:43:33.1540000Z</dcterms:created>
  <dcterms:modified xsi:type="dcterms:W3CDTF">2026-10-22T13:43:33.1540000Z</dcterms:modified>
</coreProperties>
</file>